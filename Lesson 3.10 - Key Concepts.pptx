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9" r:id="rId9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9" r:id="rId19"/>
    <p:sldId id="270" r:id="rId20"/>
    <p:sldId id="271" r:id="rId21"/>
    <p:sldId id="273" r:id="rId23"/>
    <p:sldId id="274" r:id="rId24"/>
    <p:sldId id="275" r:id="rId25"/>
    <p:sldId id="279" r:id="rId29"/>
    <p:sldId id="280" r:id="rId30"/>
  </p:sldIdLst>
  <p:sldSz cy="6858000" cx="12191675"/>
  <p:notesSz cx="6858000" cy="9144000"/>
  <p:embeddedFontLst>
    <p:embeddedFont>
      <p:font typeface="Open Sans Light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OpenSansLight-bold.fntdata"/><Relationship Id="rId20" Type="http://schemas.openxmlformats.org/officeDocument/2006/relationships/slide" Target="slides/slide15.xml"/><Relationship Id="rId42" Type="http://schemas.openxmlformats.org/officeDocument/2006/relationships/font" Target="fonts/OpenSansLight-boldItalic.fntdata"/><Relationship Id="rId41" Type="http://schemas.openxmlformats.org/officeDocument/2006/relationships/font" Target="fonts/OpenSansLight-italic.fntdata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39" Type="http://schemas.openxmlformats.org/officeDocument/2006/relationships/font" Target="fonts/OpenSansLight-regular.fntdata"/><Relationship Id="rId16" Type="http://schemas.openxmlformats.org/officeDocument/2006/relationships/slide" Target="slides/slide11.xml"/><Relationship Id="rId19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18481493d_0_64:notes"/>
          <p:cNvSpPr/>
          <p:nvPr>
            <p:ph idx="2" type="sldImg"/>
          </p:nvPr>
        </p:nvSpPr>
        <p:spPr>
          <a:xfrm>
            <a:off x="685873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f18481493d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" name="Google Shape;51;g3f18481493d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1848149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18481493d_0_75:notes"/>
          <p:cNvSpPr/>
          <p:nvPr>
            <p:ph idx="2" type="sldImg"/>
          </p:nvPr>
        </p:nvSpPr>
        <p:spPr>
          <a:xfrm>
            <a:off x="3810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L10 — Transformers, Attention &amp; GenAI. The final lesson of Module 3.</a:t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questions structure today.</a:t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Attention solves the long-range context problem.</a:t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vectors per token: query, key, value.</a:t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formula in plain English.</a:t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Multi-head: parallel attentions, each specialising on a different pattern.</a:t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transformer block: attention + feed-forward + residuals + LayerNorm.</a:t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architecture, scaled from 22M to 1T+ parameters.</a:t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LLM is a next-token predictor. That's literally what it does.</a:t>
            </a:r>
            <a:endParaRPr/>
          </a:p>
        </p:txBody>
      </p:sp>
      <p:sp>
        <p:nvSpPr>
          <p:cNvPr id="304" name="Google Shape;30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Sampling parameters — how to pick from the distribution.</a:t>
            </a:r>
            <a:endParaRPr/>
          </a:p>
        </p:txBody>
      </p:sp>
      <p:sp>
        <p:nvSpPr>
          <p:cNvPr id="333" name="Google Shape;3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Chat templates: the format instruction-tuned models expect.</a:t>
            </a:r>
            <a:endParaRPr/>
          </a:p>
        </p:txBody>
      </p:sp>
      <p:sp>
        <p:nvSpPr>
          <p:cNvPr id="360" name="Google Shape;36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LLM doesn't know your data. Asking it directly produces fluent nonsense.</a:t>
            </a:r>
            <a:endParaRPr/>
          </a:p>
        </p:txBody>
      </p:sp>
      <p:sp>
        <p:nvSpPr>
          <p:cNvPr id="394" name="Google Shape;39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RAG: retrieve relevant docs, stuff them in the prompt, then generate.</a:t>
            </a:r>
            <a:endParaRPr/>
          </a:p>
        </p:txBody>
      </p:sp>
      <p:sp>
        <p:nvSpPr>
          <p:cNvPr id="412" name="Google Shape;41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side contributes what the other lacks.</a:t>
            </a:r>
            <a:endParaRPr/>
          </a:p>
        </p:txBody>
      </p:sp>
      <p:sp>
        <p:nvSpPr>
          <p:cNvPr id="423" name="Google Shape;42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tree: prompt → RAG → fine-tune.</a:t>
            </a:r>
            <a:endParaRPr/>
          </a:p>
        </p:txBody>
      </p:sp>
      <p:sp>
        <p:nvSpPr>
          <p:cNvPr id="514" name="Google Shape;51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things to remember from L10.</a:t>
            </a:r>
            <a:endParaRPr/>
          </a:p>
        </p:txBody>
      </p:sp>
      <p:sp>
        <p:nvSpPr>
          <p:cNvPr id="525" name="Google Shape;52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/3 Conten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4255500" cy="6570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69357" y="458767"/>
            <a:ext cx="3886200" cy="121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272659" y="1897800"/>
            <a:ext cx="3982800" cy="443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b="1" sz="2900">
                <a:solidFill>
                  <a:schemeClr val="lt1"/>
                </a:solidFill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19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461081" y="550100"/>
            <a:ext cx="7383000" cy="589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2/3 Content">
  <p:cSld name="CUSTOM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437248" y="197167"/>
            <a:ext cx="74022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8" name="Google Shape;28;p6"/>
          <p:cNvSpPr/>
          <p:nvPr>
            <p:ph idx="2" type="pic"/>
          </p:nvPr>
        </p:nvSpPr>
        <p:spPr>
          <a:xfrm>
            <a:off x="0" y="0"/>
            <a:ext cx="4084200" cy="655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437315" y="1300800"/>
            <a:ext cx="7402200" cy="504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130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2/3 Content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>
            <p:ph idx="2" type="pic"/>
          </p:nvPr>
        </p:nvSpPr>
        <p:spPr>
          <a:xfrm>
            <a:off x="8107384" y="0"/>
            <a:ext cx="4084200" cy="65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02053" y="1341900"/>
            <a:ext cx="7163700" cy="519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lumn Content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09584" y="1167100"/>
            <a:ext cx="4803000" cy="475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653156" y="1167100"/>
            <a:ext cx="4929000" cy="49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cxnSp>
        <p:nvCxnSpPr>
          <p:cNvPr id="38" name="Google Shape;38;p8"/>
          <p:cNvCxnSpPr/>
          <p:nvPr/>
        </p:nvCxnSpPr>
        <p:spPr>
          <a:xfrm>
            <a:off x="6095838" y="1403100"/>
            <a:ext cx="0" cy="4521300"/>
          </a:xfrm>
          <a:prstGeom prst="straightConnector1">
            <a:avLst/>
          </a:prstGeom>
          <a:noFill/>
          <a:ln cap="flat" cmpd="sng" w="12700">
            <a:solidFill>
              <a:srgbClr val="C51A4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ctrTitle"/>
          </p:nvPr>
        </p:nvSpPr>
        <p:spPr>
          <a:xfrm>
            <a:off x="914376" y="2130425"/>
            <a:ext cx="10362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1828751" y="3886200"/>
            <a:ext cx="8534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00"/>
              </a:spcBef>
              <a:spcAft>
                <a:spcPts val="13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0642679" y="6515076"/>
            <a:ext cx="93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1900" spcFirstLastPara="1" rIns="121900" wrap="square" tIns="6092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5940575" y="606904"/>
            <a:ext cx="310500" cy="121917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–"/>
              <a:defRPr i="0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400050" lvl="2" marL="1371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Char char="•"/>
              <a:defRPr i="0" sz="2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»"/>
              <a:defRPr i="0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632103" y="6584067"/>
            <a:ext cx="355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US" sz="800">
                <a:solidFill>
                  <a:srgbClr val="FFFFFF"/>
                </a:solidFill>
              </a:rPr>
              <a:t>6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 xml:space="preserve"> Nanyang Technological University. All rights reserved.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uilding with a balcony and trees&#10;&#10;Description automatically generated" id="53" name="Google Shape;53;p12"/>
          <p:cNvPicPr preferRelativeResize="0"/>
          <p:nvPr/>
        </p:nvPicPr>
        <p:blipFill rotWithShape="1">
          <a:blip r:embed="rId3">
            <a:alphaModFix/>
          </a:blip>
          <a:srcRect b="0" l="0" r="33271" t="0"/>
          <a:stretch/>
        </p:blipFill>
        <p:spPr>
          <a:xfrm>
            <a:off x="6172156" y="0"/>
            <a:ext cx="609584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172155" y="5785658"/>
            <a:ext cx="6095700" cy="10725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5785658"/>
            <a:ext cx="6172200" cy="10725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457200" cy="6858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753947" y="2199834"/>
            <a:ext cx="4842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4000"/>
              <a:buFont typeface="Open Sans Light"/>
              <a:buNone/>
            </a:pPr>
            <a:r>
              <a:rPr lang="en-US" sz="32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3200"/>
          </a:p>
        </p:txBody>
      </p:sp>
      <p:sp>
        <p:nvSpPr>
          <p:cNvPr id="58" name="Google Shape;58;p12"/>
          <p:cNvSpPr txBox="1"/>
          <p:nvPr/>
        </p:nvSpPr>
        <p:spPr>
          <a:xfrm>
            <a:off x="750001" y="3429000"/>
            <a:ext cx="51897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rPr b="1" lang="en-US" sz="3200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b="1" sz="3200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b="33662" l="0" r="0" t="30759"/>
          <a:stretch/>
        </p:blipFill>
        <p:spPr>
          <a:xfrm>
            <a:off x="457188" y="0"/>
            <a:ext cx="5684722" cy="1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799579" y="2882000"/>
            <a:ext cx="1059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3.10 Transformers, Attention &amp; GenAI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7200"/>
              <a:buFont typeface="Open Sans"/>
              <a:buNone/>
            </a:pPr>
            <a:r>
              <a:rPr lang="en-US" sz="7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L10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Open Sans"/>
              <a:buNone/>
            </a:pPr>
            <a: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Transformers</a:t>
            </a:r>
            <a:b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70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&amp; GenAI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i="1"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Attention  ·  LLMs  ·  RAG  ·  the architecture behind ChatGPT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Today's Three Questions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attention to GenAI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48640" y="15544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48640" y="18288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417320" y="15544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645920" y="16916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IS attention?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does it actually compute?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1645920" y="242316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matrix multiply + softmax that lets each token see every other token, weighted by relevance.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548640" y="30175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48640" y="32918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1417320" y="30175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645920" y="31546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is an LLM,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mechanically?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645920" y="38862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transformer trained to predict the next token. Generation is a one-token-at-a-time loop.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548640" y="44805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48640" y="47548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1417320" y="44805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645920" y="461772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How do you 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 LLM on YOUR data?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645920" y="53492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RAG: retrieve relevant docs, stuff them in the prompt, let the LLM answer with grounding.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Attention?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context problem in one example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48640" y="155448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Read these two sentences: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22960" y="2103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"The trophy didn't fit in the suitcase because IT was too big."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22960" y="26060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"The trophy didn't fit in the suitcase because IT was too small."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48640" y="3383280"/>
            <a:ext cx="1106424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822960" y="34290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First IT = trophy (too big). Second IT = suitcase (too small). Same word, different meaning.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48640" y="4114800"/>
            <a:ext cx="11064240" cy="21579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822960" y="42519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the model needs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22960" y="4709160"/>
            <a:ext cx="10515600" cy="1402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To disambiguate IT, look at every other word in the sentence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Weight some heavily (trophy, suitcase, big/small) and some lightly (the, was)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Use the weighting to build a context-aware representation of 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Q · K · V — Three Vectors Per Token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attention computes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548640" y="155448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822960" y="16002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For each token, the model computes three vectors via learned projections.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548640" y="2240280"/>
            <a:ext cx="2286000" cy="917143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48640" y="24231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QUERY (Q)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2971800" y="2240280"/>
            <a:ext cx="8595360" cy="91714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200400" y="2423160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THIS token is looking for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48640" y="3154680"/>
            <a:ext cx="2286000" cy="917143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48640" y="33375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(K)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2971800" y="3154680"/>
            <a:ext cx="8595360" cy="91714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200400" y="3337560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each OTHER token offers — labels for matching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48640" y="4069080"/>
            <a:ext cx="2286000" cy="917143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48640" y="42519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VALUE (V)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2971800" y="4069080"/>
            <a:ext cx="8595360" cy="91714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200400" y="4251960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actual content each token contributes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48640" y="5305702"/>
            <a:ext cx="11064300" cy="755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822960" y="5486400"/>
            <a:ext cx="10515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attention(Q, K, V) = softmax(Q · Kᵀ / √d) · V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Attention Formula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Three steps, in plain English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48640" y="1691640"/>
            <a:ext cx="73152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48640" y="2103120"/>
            <a:ext cx="73152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417320" y="169164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645920" y="1828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Dot products Q · Kᵀ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645920" y="2240280"/>
            <a:ext cx="978408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Similarity score for every (query, key) pair.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Result: a seq_len × seq_len matrix of scores.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48640" y="3108960"/>
            <a:ext cx="73152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48640" y="3520440"/>
            <a:ext cx="73152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417320" y="310896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645920" y="324612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Scale + softmax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645920" y="3657600"/>
            <a:ext cx="978408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Divide by √d to control magnitude, then softmax along each row.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row now sums to 1 — these are ATTENTION WEIGHTS.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48640" y="4526280"/>
            <a:ext cx="73152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48640" y="4937760"/>
            <a:ext cx="73152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1417320" y="452628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645920" y="46634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Weighted sum: weights · V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645920" y="5074920"/>
            <a:ext cx="978408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output token = weighted average of all values, using the weights.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Result: every token now contains info from every other token, focused on the relevant ones.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Multi-Head Attention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Several attentions in parallel, each with its specialty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48640" y="155448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822960" y="1600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One attention layer learns ONE relationship. Real models need many.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48640" y="2468880"/>
            <a:ext cx="2560320" cy="215798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4008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1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4008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Coreference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(pronouns → entities)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3383280" y="2468880"/>
            <a:ext cx="2560320" cy="21579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47472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2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347472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Subject-verb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syntactic structure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6217920" y="2468880"/>
            <a:ext cx="2560320" cy="215798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30936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3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0936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Modifier-noun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adjective relationships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9052560" y="2468880"/>
            <a:ext cx="2560320" cy="21579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914400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4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14400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Long-range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discourse structure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48640" y="466344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Real transformers use 8-16 heads per layer × 12-96 layers.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48640" y="521208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head's specialty EMERGES from training — nobody hand-designs them.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Transformer Block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Lego brick of modern NLP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48650" y="1302574"/>
            <a:ext cx="11064300" cy="539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823000" y="1437097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ONE block = attention + feed-forward, each wrapped in residual + LayerNorm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48650" y="1860275"/>
            <a:ext cx="11064300" cy="466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777260" y="1980978"/>
            <a:ext cx="105156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Multi-head Self-Attention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+ input (residual)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LayerNorm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Feed-Forward (2 linear layers + ReLU)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+ previous (residual)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LayerNorm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output (same shape as input)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Same Recipe, Different Scale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MiniLM to GPT-4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48640" y="169164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777240" y="17373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Model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3657600" y="173736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Params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486400" y="17373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Layers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858000" y="17373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d_model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229600" y="173736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Training data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48640" y="224028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777240" y="22860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all-MiniLM-L6-v2 (L09)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3657600" y="228600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22M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486400" y="22860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858000" y="22860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384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229600" y="228600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1B+ sentence pairs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48640" y="274320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777240" y="27889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BERT-base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3657600" y="278892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110M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5486400" y="278892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858000" y="278892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768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229600" y="278892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Wikipedia + books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48640" y="324612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777240" y="329184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GPT-2 medium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3657600" y="329184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355M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5486400" y="329184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858000" y="329184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1,024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229600" y="329184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WebText (40GB)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48640" y="374904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777240" y="37947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SmolLM2-360M (today's LLM)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3657600" y="379476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361M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486400" y="37947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858000" y="37947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960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229600" y="379476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Open web + curation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48640" y="425196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777240" y="429768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GPT-3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3657600" y="429768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175B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486400" y="429768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96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858000" y="429768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12,288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229600" y="429768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Internet + books + code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48640" y="475488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777240" y="48006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GPT-4 (estimated)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3657600" y="480060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~1T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486400" y="48006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858000" y="48006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229600" y="480060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Internet + code + RLHF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48640" y="5440680"/>
            <a:ext cx="11064240" cy="64739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22960" y="5532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Same Lego brick. What changes: more bricks, more data, more post-training, more money.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An LLM Actually Does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 the next token. That's it.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548640" y="1554480"/>
            <a:ext cx="11064240" cy="1618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822960" y="20574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"The cat sat on the"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822960" y="25146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Probability distribution over the vocabulary: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548640" y="3063240"/>
            <a:ext cx="11064240" cy="20500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822960" y="3200400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mat</a:t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3657600" y="3246120"/>
            <a:ext cx="3108960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6858000" y="3200400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0.34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822960" y="3529584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floor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3657600" y="3575304"/>
            <a:ext cx="1645919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5394959" y="3529584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0.18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822960" y="385876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rug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3657600" y="3904488"/>
            <a:ext cx="822959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4571999" y="3858768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0.09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822960" y="4187952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couch</a:t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3657600" y="4233672"/>
            <a:ext cx="640080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4389120" y="4187952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0.07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822960" y="4517136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548640" y="5029200"/>
            <a:ext cx="11064240" cy="10789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822960" y="51663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Generate: pick one (greedy / sample) → append → run again → repeat.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Every ChatGPT response is generated by this loop, one token at a time.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Sampling — From Distribution To Token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Temperature, top-k, top-p</a:t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548640" y="1691640"/>
            <a:ext cx="2286000" cy="10789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548640" y="19659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Greedy</a:t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2971800" y="169164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3200400" y="192024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Pick argmax. Deterministic, often repetitive. Good for code.</a:t>
            </a: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548640" y="2743200"/>
            <a:ext cx="228600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>
            <a:off x="548640" y="301752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Temperature</a:t>
            </a: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2971800" y="274320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3200400" y="297180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Scale logits before softmax. T&lt;1 → sharper; T&gt;1 → flatter. T=0 ≡ greedy.</a:t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548640" y="3794760"/>
            <a:ext cx="2286000" cy="10789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548640" y="406908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Top-k</a:t>
            </a: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2971800" y="379476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3200400" y="402336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Only sample from the k highest-probability tokens. Cuts the long tail.</a:t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548640" y="4846320"/>
            <a:ext cx="2286000" cy="10789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548640" y="512064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Top-p (nucleus)</a:t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2971800" y="484632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3200400" y="507492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Only sample from the smallest set summing to probability mass p. Adaptive cutoff.</a:t>
            </a:r>
            <a:endParaRPr/>
          </a:p>
        </p:txBody>
      </p:sp>
      <p:sp>
        <p:nvSpPr>
          <p:cNvPr id="355" name="Google Shape;355;p26"/>
          <p:cNvSpPr/>
          <p:nvPr/>
        </p:nvSpPr>
        <p:spPr>
          <a:xfrm>
            <a:off x="548640" y="5989320"/>
            <a:ext cx="11064240" cy="4315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822960" y="6035040"/>
            <a:ext cx="105156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Production default: T=0.7 + top-p=0.9. Lower for code (T=0.2). Higher for creative writing (T=1.0+).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Chat Templates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Format matters — instruction-tuned models expect specific tokens</a:t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548640" y="1554480"/>
            <a:ext cx="11064240" cy="25895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SmolLM2's chat template (each model family has its own):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822960" y="2103120"/>
            <a:ext cx="10515600" cy="1834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&lt;|im_start|&gt;system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You are a helpful retail assistant.&lt;|im_end|&gt;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&lt;|im_start|&gt;user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What's a good summer dress?&lt;|im_end|&gt;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&lt;|im_start|&gt;assistant</a:t>
            </a:r>
            <a:endParaRPr/>
          </a:p>
        </p:txBody>
      </p:sp>
      <p:sp>
        <p:nvSpPr>
          <p:cNvPr id="369" name="Google Shape;369;p27"/>
          <p:cNvSpPr/>
          <p:nvPr/>
        </p:nvSpPr>
        <p:spPr>
          <a:xfrm>
            <a:off x="548640" y="3931920"/>
            <a:ext cx="11064240" cy="21579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822960" y="40690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rules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822960" y="452628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Use tokenizer.apply_chat_template() — never hand-roll the format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822960" y="48920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system → user → assistant turn order (or just user → assistant)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822960" y="52578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Get the format wrong and the model behaves like garbage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Hallucination</a:t>
            </a:r>
            <a:endParaRPr/>
          </a:p>
        </p:txBody>
      </p:sp>
      <p:sp>
        <p:nvSpPr>
          <p:cNvPr id="399" name="Google Shape;399;p29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LLM doesn't know YOUR data — so it invents</a:t>
            </a:r>
            <a:endParaRPr/>
          </a:p>
        </p:txBody>
      </p:sp>
      <p:sp>
        <p:nvSpPr>
          <p:cNvPr id="400" name="Google Shape;400;p29"/>
          <p:cNvSpPr/>
          <p:nvPr/>
        </p:nvSpPr>
        <p:spPr>
          <a:xfrm>
            <a:off x="548640" y="1554480"/>
            <a:ext cx="1106424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Q: "I'm looking for a summer dress under £80. What does NorthStar have?"</a:t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822960" y="210312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A (LLM alone): "Sure! NorthStar's Sunburst Linen Dress in coral at £65 is a great choice..."</a:t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548640" y="3017520"/>
            <a:ext cx="11064240" cy="1618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822960" y="31546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THERE IS NO SUNBURST LINEN DRESS.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822960" y="365760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model invented a plausible-sounding product. Fluent. Confident. Completely fictional.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Customers who click and find nothing lose trust forever.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548640" y="4572000"/>
            <a:ext cx="11064240" cy="16184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29"/>
          <p:cNvSpPr txBox="1"/>
          <p:nvPr/>
        </p:nvSpPr>
        <p:spPr>
          <a:xfrm>
            <a:off x="822960" y="47091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this happens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822960" y="5166360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LLM was trained to produce plausible text. It has no access to ground truth.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For any factual question about YOUR data, it will improvise. The fix: give it the data.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3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RAG — The Fix</a:t>
            </a:r>
            <a:endParaRPr/>
          </a:p>
        </p:txBody>
      </p:sp>
      <p:sp>
        <p:nvSpPr>
          <p:cNvPr id="417" name="Google Shape;417;p30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Retrieve · Augment · Generate</a:t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548640" y="1315181"/>
            <a:ext cx="11064300" cy="517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822960" y="1691640"/>
            <a:ext cx="10515600" cy="4855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Customer query: "summer dress under £80"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Embed query (L09 model)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Top-5 by cosine similarity over the catalogue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Format retrieved products into the system prompt: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"You can ONLY recommend from the catalogue below.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CATALOGUE: &lt;retrieved&gt;"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LLM generates answer, grounded in real products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p3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RAG Works</a:t>
            </a:r>
            <a:endParaRPr/>
          </a:p>
        </p:txBody>
      </p:sp>
      <p:sp>
        <p:nvSpPr>
          <p:cNvPr id="428" name="Google Shape;428;p31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side fixes the other's weakness</a:t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>
            <a:off x="548650" y="1554475"/>
            <a:ext cx="5394900" cy="4861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777240" y="17830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LLM brings</a:t>
            </a:r>
            <a:endParaRPr/>
          </a:p>
        </p:txBody>
      </p:sp>
      <p:sp>
        <p:nvSpPr>
          <p:cNvPr id="431" name="Google Shape;431;p31"/>
          <p:cNvSpPr txBox="1"/>
          <p:nvPr/>
        </p:nvSpPr>
        <p:spPr>
          <a:xfrm>
            <a:off x="777240" y="23774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Language fluency (formulating sentences)</a:t>
            </a:r>
            <a:endParaRPr/>
          </a:p>
        </p:txBody>
      </p:sp>
      <p:sp>
        <p:nvSpPr>
          <p:cNvPr id="432" name="Google Shape;432;p31"/>
          <p:cNvSpPr txBox="1"/>
          <p:nvPr/>
        </p:nvSpPr>
        <p:spPr>
          <a:xfrm>
            <a:off x="777240" y="288036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General reasoning (price &lt; £200 filtering)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777240" y="33832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Question understanding (intent extraction)</a:t>
            </a:r>
            <a:endParaRPr/>
          </a:p>
        </p:txBody>
      </p:sp>
      <p:sp>
        <p:nvSpPr>
          <p:cNvPr id="434" name="Google Shape;434;p31"/>
          <p:cNvSpPr txBox="1"/>
          <p:nvPr/>
        </p:nvSpPr>
        <p:spPr>
          <a:xfrm>
            <a:off x="777240" y="388620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Stylistic flexibility (concise / detailed)</a:t>
            </a:r>
            <a:endParaRPr/>
          </a:p>
        </p:txBody>
      </p:sp>
      <p:sp>
        <p:nvSpPr>
          <p:cNvPr id="435" name="Google Shape;435;p31"/>
          <p:cNvSpPr/>
          <p:nvPr/>
        </p:nvSpPr>
        <p:spPr>
          <a:xfrm>
            <a:off x="6217922" y="1554475"/>
            <a:ext cx="5394900" cy="48612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6446520" y="17830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retrieval brings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6446520" y="23774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Up-to-date factual data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6446520" y="288036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Specific products the LLM doesn't know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6446520" y="33832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Audit trail (you can show source documents)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6446520" y="388620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Easy update (re-embed; no retraining)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Decision Tree</a:t>
            </a:r>
            <a:endParaRPr/>
          </a:p>
        </p:txBody>
      </p:sp>
      <p:sp>
        <p:nvSpPr>
          <p:cNvPr id="519" name="Google Shape;519;p35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Prompt vs RAG vs fine-tune</a:t>
            </a:r>
            <a:endParaRPr/>
          </a:p>
        </p:txBody>
      </p:sp>
      <p:sp>
        <p:nvSpPr>
          <p:cNvPr id="520" name="Google Shape;520;p35"/>
          <p:cNvSpPr/>
          <p:nvPr/>
        </p:nvSpPr>
        <p:spPr>
          <a:xfrm>
            <a:off x="548650" y="1415933"/>
            <a:ext cx="11064300" cy="4926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822960" y="1553098"/>
            <a:ext cx="105156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Does the task require KNOWLEDGE the LLM doesn't have?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+-- NO  --&gt; Just PROMPT (zero-shot or few-shot)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|          [sentiment, summarisation, format conversion]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+-- YES --&gt; Is your knowledge a searchable CORPUS?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+-- YES --&gt; RAG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|          [product catalogue, internal docs, code search]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+-- NO  --&gt; Does the task need a specific STYLE / BEHAVIOUR?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            +-- YES --&gt; FINE-TUNE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            |          [medical reports, brand voice, structured output]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                +-- NO  --&gt; PROMPT harder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Things To Remember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L10 takeaways</a:t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548640" y="15544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548640" y="18288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533" name="Google Shape;533;p36"/>
          <p:cNvSpPr/>
          <p:nvPr/>
        </p:nvSpPr>
        <p:spPr>
          <a:xfrm>
            <a:off x="1417320" y="15544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4" name="Google Shape;534;p36"/>
          <p:cNvSpPr txBox="1"/>
          <p:nvPr/>
        </p:nvSpPr>
        <p:spPr>
          <a:xfrm>
            <a:off x="1645920" y="16916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Attention is the mechanism</a:t>
            </a:r>
            <a:endParaRPr/>
          </a:p>
        </p:txBody>
      </p:sp>
      <p:sp>
        <p:nvSpPr>
          <p:cNvPr id="535" name="Google Shape;535;p36"/>
          <p:cNvSpPr txBox="1"/>
          <p:nvPr/>
        </p:nvSpPr>
        <p:spPr>
          <a:xfrm>
            <a:off x="1645920" y="21488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Every modern NLP model — embeddings, classifiers, LLMs — is a stack of transformer blocks.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recipe doesn't change with scale.</a:t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548640" y="30175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548640" y="32918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538" name="Google Shape;538;p36"/>
          <p:cNvSpPr/>
          <p:nvPr/>
        </p:nvSpPr>
        <p:spPr>
          <a:xfrm>
            <a:off x="1417320" y="30175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1645920" y="315468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 LLM is a next-token predictor</a:t>
            </a:r>
            <a:endParaRPr/>
          </a:p>
        </p:txBody>
      </p:sp>
      <p:sp>
        <p:nvSpPr>
          <p:cNvPr id="540" name="Google Shape;540;p36"/>
          <p:cNvSpPr txBox="1"/>
          <p:nvPr/>
        </p:nvSpPr>
        <p:spPr>
          <a:xfrm>
            <a:off x="1645920" y="36118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That's literally all it does. Sampling turns a probability distribution into text.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Generation is a one-token-at-a-time loop.</a:t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548640" y="44805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548640" y="47548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543" name="Google Shape;543;p36"/>
          <p:cNvSpPr/>
          <p:nvPr/>
        </p:nvSpPr>
        <p:spPr>
          <a:xfrm>
            <a:off x="1417320" y="44805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4" name="Google Shape;544;p36"/>
          <p:cNvSpPr txBox="1"/>
          <p:nvPr/>
        </p:nvSpPr>
        <p:spPr>
          <a:xfrm>
            <a:off x="1645920" y="461772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RAG is the standard for YOUR data</a:t>
            </a:r>
            <a:endParaRPr/>
          </a:p>
        </p:txBody>
      </p:sp>
      <p:sp>
        <p:nvSpPr>
          <p:cNvPr id="545" name="Google Shape;545;p36"/>
          <p:cNvSpPr txBox="1"/>
          <p:nvPr/>
        </p:nvSpPr>
        <p:spPr>
          <a:xfrm>
            <a:off x="1645920" y="507492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Retrieve, augment, generate. Don't expect the LLM to know your catalogue — give it the catalogue.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Guard against hallucination with strict system prompts.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