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6858000" cx="12191675"/>
  <p:notesSz cx="6858000" cy="9144000"/>
  <p:embeddedFontLst>
    <p:embeddedFont>
      <p:font typeface="Open Sans Light"/>
      <p:regular r:id="rId39"/>
      <p:bold r:id="rId40"/>
      <p:italic r:id="rId41"/>
      <p:boldItalic r:id="rId42"/>
    </p:embeddedFont>
    <p:embeddedFont>
      <p:font typeface="Open Sans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bold.fntdata"/><Relationship Id="rId20" Type="http://schemas.openxmlformats.org/officeDocument/2006/relationships/slide" Target="slides/slide15.xml"/><Relationship Id="rId42" Type="http://schemas.openxmlformats.org/officeDocument/2006/relationships/font" Target="fonts/OpenSansLight-boldItalic.fntdata"/><Relationship Id="rId41" Type="http://schemas.openxmlformats.org/officeDocument/2006/relationships/font" Target="fonts/OpenSansLight-italic.fntdata"/><Relationship Id="rId22" Type="http://schemas.openxmlformats.org/officeDocument/2006/relationships/slide" Target="slides/slide17.xml"/><Relationship Id="rId44" Type="http://schemas.openxmlformats.org/officeDocument/2006/relationships/font" Target="fonts/OpenSans-bold.fntdata"/><Relationship Id="rId21" Type="http://schemas.openxmlformats.org/officeDocument/2006/relationships/slide" Target="slides/slide16.xml"/><Relationship Id="rId43" Type="http://schemas.openxmlformats.org/officeDocument/2006/relationships/font" Target="fonts/OpenSans-regular.fntdata"/><Relationship Id="rId24" Type="http://schemas.openxmlformats.org/officeDocument/2006/relationships/slide" Target="slides/slide19.xml"/><Relationship Id="rId46" Type="http://schemas.openxmlformats.org/officeDocument/2006/relationships/font" Target="fonts/OpenSans-boldItalic.fntdata"/><Relationship Id="rId23" Type="http://schemas.openxmlformats.org/officeDocument/2006/relationships/slide" Target="slides/slide18.xml"/><Relationship Id="rId45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OpenSansLight-regular.fntdata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f18481493d_0_64:notes"/>
          <p:cNvSpPr/>
          <p:nvPr>
            <p:ph idx="2" type="sldImg"/>
          </p:nvPr>
        </p:nvSpPr>
        <p:spPr>
          <a:xfrm>
            <a:off x="685873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g3f18481493d_0_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" name="Google Shape;51;g3f18481493d_0_6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1848149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f18481493d_0_75:notes"/>
          <p:cNvSpPr/>
          <p:nvPr>
            <p:ph idx="2" type="sldImg"/>
          </p:nvPr>
        </p:nvSpPr>
        <p:spPr>
          <a:xfrm>
            <a:off x="3810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18481493d_0_79:notes"/>
          <p:cNvSpPr/>
          <p:nvPr>
            <p:ph idx="2" type="sldImg"/>
          </p:nvPr>
        </p:nvSpPr>
        <p:spPr>
          <a:xfrm>
            <a:off x="3810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18481493d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g3f18481493d_0_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" name="Google Shape;74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Welcome to L10 — Transformers, Attention &amp; GenAI. The final lesson of Module 3.</a:t>
            </a:r>
            <a:endParaRPr/>
          </a:p>
        </p:txBody>
      </p:sp>
      <p:sp>
        <p:nvSpPr>
          <p:cNvPr id="75" name="Google Shape;75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L09 shipped semantic search. Marcus's final ask: a shopping assistant.</a:t>
            </a:r>
            <a:endParaRPr/>
          </a:p>
        </p:txBody>
      </p:sp>
      <p:sp>
        <p:nvSpPr>
          <p:cNvPr id="84" name="Google Shape;8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questions structure today.</a:t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Attention solves the long-range context problem.</a:t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vectors per token: query, key, value.</a:t>
            </a:r>
            <a:endParaRPr/>
          </a:p>
        </p:txBody>
      </p:sp>
      <p:sp>
        <p:nvSpPr>
          <p:cNvPr id="147" name="Google Shape;14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formula in plain English.</a:t>
            </a:r>
            <a:endParaRPr/>
          </a:p>
        </p:txBody>
      </p:sp>
      <p:sp>
        <p:nvSpPr>
          <p:cNvPr id="172" name="Google Shape;17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Multi-head: parallel attentions, each specialising on a different pattern.</a:t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transformer block: attention + feed-forward + residuals + LayerNorm.</a:t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Same architecture, scaled from 22M to 1T+ parameters.</a:t>
            </a:r>
            <a:endParaRPr/>
          </a:p>
        </p:txBody>
      </p:sp>
      <p:sp>
        <p:nvSpPr>
          <p:cNvPr id="234" name="Google Shape;234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02_attention_intuition.ipynb: 20 min, Core only.</a:t>
            </a:r>
            <a:endParaRPr/>
          </a:p>
        </p:txBody>
      </p:sp>
      <p:sp>
        <p:nvSpPr>
          <p:cNvPr id="287" name="Google Shape;28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3" name="Google Shape;30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 LLM is a next-token predictor. That's literally what it does.</a:t>
            </a:r>
            <a:endParaRPr/>
          </a:p>
        </p:txBody>
      </p:sp>
      <p:sp>
        <p:nvSpPr>
          <p:cNvPr id="304" name="Google Shape;30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Sampling parameters — how to pick from the distribution.</a:t>
            </a:r>
            <a:endParaRPr/>
          </a:p>
        </p:txBody>
      </p:sp>
      <p:sp>
        <p:nvSpPr>
          <p:cNvPr id="333" name="Google Shape;3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9" name="Google Shape;35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Chat templates: the format instruction-tuned models expect.</a:t>
            </a:r>
            <a:endParaRPr/>
          </a:p>
        </p:txBody>
      </p:sp>
      <p:sp>
        <p:nvSpPr>
          <p:cNvPr id="360" name="Google Shape;36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03_using_an_llm.ipynb: 25 min, Core only.</a:t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3" name="Google Shape;393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LLM doesn't know your data. Asking it directly produces fluent nonsense.</a:t>
            </a:r>
            <a:endParaRPr/>
          </a:p>
        </p:txBody>
      </p:sp>
      <p:sp>
        <p:nvSpPr>
          <p:cNvPr id="394" name="Google Shape;394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RAG: retrieve relevant docs, stuff them in the prompt, then generate.</a:t>
            </a:r>
            <a:endParaRPr/>
          </a:p>
        </p:txBody>
      </p:sp>
      <p:sp>
        <p:nvSpPr>
          <p:cNvPr id="412" name="Google Shape;412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side contributes what the other lacks.</a:t>
            </a:r>
            <a:endParaRPr/>
          </a:p>
        </p:txBody>
      </p:sp>
      <p:sp>
        <p:nvSpPr>
          <p:cNvPr id="423" name="Google Shape;423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Code-along on 04_rag_pipeline.ipynb: 25 min, Core only.</a:t>
            </a:r>
            <a:endParaRPr/>
          </a:p>
        </p:txBody>
      </p:sp>
      <p:sp>
        <p:nvSpPr>
          <p:cNvPr id="444" name="Google Shape;444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0" name="Google Shape;46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Sarah's Friday recommendation for the shopping assistant.</a:t>
            </a:r>
            <a:endParaRPr/>
          </a:p>
        </p:txBody>
      </p:sp>
      <p:sp>
        <p:nvSpPr>
          <p:cNvPr id="461" name="Google Shape;46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8" name="Google Shape;478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deployment trade-off triangle.</a:t>
            </a:r>
            <a:endParaRPr/>
          </a:p>
        </p:txBody>
      </p:sp>
      <p:sp>
        <p:nvSpPr>
          <p:cNvPr id="479" name="Google Shape;479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3" name="Google Shape;513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Decision tree: prompt → RAG → fine-tune.</a:t>
            </a:r>
            <a:endParaRPr/>
          </a:p>
        </p:txBody>
      </p:sp>
      <p:sp>
        <p:nvSpPr>
          <p:cNvPr id="514" name="Google Shape;514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4" name="Google Shape;524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things to remember from L10.</a:t>
            </a:r>
            <a:endParaRPr/>
          </a:p>
        </p:txBody>
      </p:sp>
      <p:sp>
        <p:nvSpPr>
          <p:cNvPr id="525" name="Google Shape;525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When to use what for GenAI tasks.</a:t>
            </a:r>
            <a:endParaRPr/>
          </a:p>
        </p:txBody>
      </p:sp>
      <p:sp>
        <p:nvSpPr>
          <p:cNvPr id="549" name="Google Shape;549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1" name="Google Shape;58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Common pitfalls in production GenAI.</a:t>
            </a:r>
            <a:endParaRPr/>
          </a:p>
        </p:txBody>
      </p:sp>
      <p:sp>
        <p:nvSpPr>
          <p:cNvPr id="582" name="Google Shape;58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you've built across nine lessons.</a:t>
            </a:r>
            <a:endParaRPr/>
          </a:p>
        </p:txBody>
      </p:sp>
      <p:sp>
        <p:nvSpPr>
          <p:cNvPr id="615" name="Google Shape;615;p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0" name="Google Shape;660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Sarah's journey — and yours.</a:t>
            </a:r>
            <a:endParaRPr/>
          </a:p>
        </p:txBody>
      </p:sp>
      <p:sp>
        <p:nvSpPr>
          <p:cNvPr id="661" name="Google Shape;661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7" name="Google Shape;677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What's next — directions for further study.</a:t>
            </a:r>
            <a:endParaRPr/>
          </a:p>
        </p:txBody>
      </p:sp>
      <p:sp>
        <p:nvSpPr>
          <p:cNvPr id="678" name="Google Shape;678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2" name="Google Shape;702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Final assignment — ship a RAG-powered shopping assistant.</a:t>
            </a:r>
            <a:endParaRPr/>
          </a:p>
        </p:txBody>
      </p:sp>
      <p:sp>
        <p:nvSpPr>
          <p:cNvPr id="703" name="Google Shape;703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1" name="Google Shape;721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Resources to keep building.</a:t>
            </a:r>
            <a:endParaRPr/>
          </a:p>
        </p:txBody>
      </p:sp>
      <p:sp>
        <p:nvSpPr>
          <p:cNvPr id="722" name="Google Shape;722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thanks and farewell.</a:t>
            </a:r>
            <a:endParaRPr/>
          </a:p>
        </p:txBody>
      </p:sp>
      <p:sp>
        <p:nvSpPr>
          <p:cNvPr id="751" name="Google Shape;751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1pPr>
            <a:lvl2pPr indent="-349250" lvl="1" marL="914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2pPr>
            <a:lvl3pPr indent="-349250" lvl="2" marL="1371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3pPr>
            <a:lvl4pPr indent="-349250" lvl="3" marL="18288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/>
            </a:lvl4pPr>
            <a:lvl5pPr indent="-349250" lvl="4" marL="22860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»"/>
              <a:defRPr/>
            </a:lvl5pPr>
            <a:lvl6pPr indent="-349250" lvl="5" marL="27432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6pPr>
            <a:lvl7pPr indent="-349250" lvl="6" marL="32004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7pPr>
            <a:lvl8pPr indent="-349250" lvl="7" marL="365760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/>
            </a:lvl8pPr>
            <a:lvl9pPr indent="-349250" lvl="8" marL="411480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2/3 Content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4255500" cy="65703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69357" y="458767"/>
            <a:ext cx="3886200" cy="1218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subTitle"/>
          </p:nvPr>
        </p:nvSpPr>
        <p:spPr>
          <a:xfrm>
            <a:off x="272659" y="1897800"/>
            <a:ext cx="3982800" cy="4430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b="1" sz="2900">
                <a:solidFill>
                  <a:schemeClr val="lt1"/>
                </a:solidFill>
              </a:defRPr>
            </a:lvl1pPr>
            <a:lvl2pPr lvl="1">
              <a:spcBef>
                <a:spcPts val="1300"/>
              </a:spcBef>
              <a:spcAft>
                <a:spcPts val="0"/>
              </a:spcAft>
              <a:buSzPts val="2900"/>
              <a:buNone/>
              <a:defRPr/>
            </a:lvl2pPr>
            <a:lvl3pPr lvl="2">
              <a:spcBef>
                <a:spcPts val="1300"/>
              </a:spcBef>
              <a:spcAft>
                <a:spcPts val="0"/>
              </a:spcAft>
              <a:buSzPts val="2700"/>
              <a:buNone/>
              <a:defRPr/>
            </a:lvl3pPr>
            <a:lvl4pPr lvl="3">
              <a:spcBef>
                <a:spcPts val="130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1300"/>
              </a:spcBef>
              <a:spcAft>
                <a:spcPts val="0"/>
              </a:spcAft>
              <a:buSzPts val="2100"/>
              <a:buNone/>
              <a:defRPr/>
            </a:lvl5pPr>
            <a:lvl6pPr lvl="5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6pPr>
            <a:lvl7pPr lvl="6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7pPr>
            <a:lvl8pPr lvl="7">
              <a:spcBef>
                <a:spcPts val="1300"/>
              </a:spcBef>
              <a:spcAft>
                <a:spcPts val="0"/>
              </a:spcAft>
              <a:buSzPts val="1900"/>
              <a:buNone/>
              <a:defRPr/>
            </a:lvl8pPr>
            <a:lvl9pPr lvl="8">
              <a:spcBef>
                <a:spcPts val="1300"/>
              </a:spcBef>
              <a:spcAft>
                <a:spcPts val="1300"/>
              </a:spcAft>
              <a:buSzPts val="19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2" type="body"/>
          </p:nvPr>
        </p:nvSpPr>
        <p:spPr>
          <a:xfrm>
            <a:off x="4461081" y="550100"/>
            <a:ext cx="7383000" cy="5891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2/3 Content">
  <p:cSld name="CUSTOM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4437248" y="197167"/>
            <a:ext cx="74022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28" name="Google Shape;28;p6"/>
          <p:cNvSpPr/>
          <p:nvPr>
            <p:ph idx="2" type="pic"/>
          </p:nvPr>
        </p:nvSpPr>
        <p:spPr>
          <a:xfrm>
            <a:off x="0" y="0"/>
            <a:ext cx="4084200" cy="65508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4437315" y="1300800"/>
            <a:ext cx="7402200" cy="504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130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ight 2/3 Content">
  <p:cSld name="CUSTOM_1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>
            <p:ph idx="2" type="pic"/>
          </p:nvPr>
        </p:nvSpPr>
        <p:spPr>
          <a:xfrm>
            <a:off x="8107384" y="0"/>
            <a:ext cx="4084200" cy="65331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502053" y="1341900"/>
            <a:ext cx="7163700" cy="5191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-Column Content">
  <p:cSld name="CUSTOM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609584" y="1167100"/>
            <a:ext cx="4803000" cy="4757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2" type="body"/>
          </p:nvPr>
        </p:nvSpPr>
        <p:spPr>
          <a:xfrm>
            <a:off x="6653156" y="1167100"/>
            <a:ext cx="4929000" cy="491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cxnSp>
        <p:nvCxnSpPr>
          <p:cNvPr id="38" name="Google Shape;38;p8"/>
          <p:cNvCxnSpPr/>
          <p:nvPr/>
        </p:nvCxnSpPr>
        <p:spPr>
          <a:xfrm>
            <a:off x="6095838" y="1403100"/>
            <a:ext cx="0" cy="4521300"/>
          </a:xfrm>
          <a:prstGeom prst="straightConnector1">
            <a:avLst/>
          </a:prstGeom>
          <a:noFill/>
          <a:ln cap="flat" cmpd="sng" w="12700">
            <a:solidFill>
              <a:srgbClr val="C51A4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ctrTitle"/>
          </p:nvPr>
        </p:nvSpPr>
        <p:spPr>
          <a:xfrm>
            <a:off x="914376" y="2130425"/>
            <a:ext cx="103629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1828751" y="3886200"/>
            <a:ext cx="8534100" cy="17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lvl="0" algn="ctr"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43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7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300"/>
              </a:spcBef>
              <a:spcAft>
                <a:spcPts val="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300"/>
              </a:spcBef>
              <a:spcAft>
                <a:spcPts val="1300"/>
              </a:spcAft>
              <a:buClr>
                <a:srgbClr val="888888"/>
              </a:buClr>
              <a:buSzPts val="27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10642679" y="6515076"/>
            <a:ext cx="939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1900" spcFirstLastPara="1" rIns="121900" wrap="square" tIns="60925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0"/>
              </a:spcBef>
              <a:spcAft>
                <a:spcPts val="0"/>
              </a:spcAft>
              <a:buSzPts val="3200"/>
              <a:buChar char="•"/>
              <a:defRPr/>
            </a:lvl1pPr>
            <a:lvl2pPr indent="-412750" lvl="1" marL="914400">
              <a:spcBef>
                <a:spcPts val="1300"/>
              </a:spcBef>
              <a:spcAft>
                <a:spcPts val="0"/>
              </a:spcAft>
              <a:buSzPts val="2900"/>
              <a:buChar char="–"/>
              <a:defRPr/>
            </a:lvl2pPr>
            <a:lvl3pPr indent="-400050" lvl="2" marL="1371600">
              <a:spcBef>
                <a:spcPts val="1300"/>
              </a:spcBef>
              <a:spcAft>
                <a:spcPts val="0"/>
              </a:spcAft>
              <a:buSzPts val="2700"/>
              <a:buChar char="•"/>
              <a:defRPr/>
            </a:lvl3pPr>
            <a:lvl4pPr indent="-381000" lvl="3" marL="1828800">
              <a:spcBef>
                <a:spcPts val="1300"/>
              </a:spcBef>
              <a:spcAft>
                <a:spcPts val="0"/>
              </a:spcAft>
              <a:buSzPts val="2400"/>
              <a:buChar char="–"/>
              <a:defRPr/>
            </a:lvl4pPr>
            <a:lvl5pPr indent="-361950" lvl="4" marL="2286000">
              <a:spcBef>
                <a:spcPts val="1300"/>
              </a:spcBef>
              <a:spcAft>
                <a:spcPts val="0"/>
              </a:spcAft>
              <a:buSzPts val="2100"/>
              <a:buChar char="»"/>
              <a:defRPr/>
            </a:lvl5pPr>
            <a:lvl6pPr indent="-349250" lvl="5" marL="27432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6pPr>
            <a:lvl7pPr indent="-349250" lvl="6" marL="32004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7pPr>
            <a:lvl8pPr indent="-349250" lvl="7" marL="3657600">
              <a:spcBef>
                <a:spcPts val="1300"/>
              </a:spcBef>
              <a:spcAft>
                <a:spcPts val="0"/>
              </a:spcAft>
              <a:buSzPts val="1900"/>
              <a:buChar char="•"/>
              <a:defRPr/>
            </a:lvl8pPr>
            <a:lvl9pPr indent="-349250" lvl="8" marL="4114800">
              <a:spcBef>
                <a:spcPts val="1300"/>
              </a:spcBef>
              <a:spcAft>
                <a:spcPts val="1300"/>
              </a:spcAft>
              <a:buSzPts val="1900"/>
              <a:buChar char="•"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 rot="5400000">
            <a:off x="5940575" y="606904"/>
            <a:ext cx="310500" cy="121917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pen Sans Light"/>
              <a:buNone/>
              <a:defRPr i="0" sz="4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9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Char char="•"/>
              <a:defRPr i="0" sz="32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412750" lvl="1" marL="914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Open Sans"/>
              <a:buChar char="–"/>
              <a:defRPr i="0" sz="2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400050" lvl="2" marL="1371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Open Sans"/>
              <a:buChar char="•"/>
              <a:defRPr i="0" sz="27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81000" lvl="3" marL="18288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Char char="–"/>
              <a:defRPr i="0" sz="24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61950" lvl="4" marL="22860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pen Sans"/>
              <a:buChar char="»"/>
              <a:defRPr i="0" sz="21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900"/>
              <a:buFont typeface="Open Sans"/>
              <a:buChar char="•"/>
              <a:defRPr i="0" sz="19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0899876" y="6154767"/>
            <a:ext cx="1139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rtl="0" algn="r">
              <a:spcBef>
                <a:spcPts val="0"/>
              </a:spcBef>
              <a:buNone/>
              <a:defRPr i="0" sz="1300" u="none" cap="none" strike="noStrike">
                <a:solidFill>
                  <a:srgbClr val="888888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8632103" y="6584067"/>
            <a:ext cx="355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Copyright © 202</a:t>
            </a:r>
            <a:r>
              <a:rPr lang="en-US" sz="800">
                <a:solidFill>
                  <a:srgbClr val="FFFFFF"/>
                </a:solidFill>
              </a:rPr>
              <a:t>6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Nanyang Technological University. All rights reserved. 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uilding with a balcony and trees&#10;&#10;Description automatically generated" id="53" name="Google Shape;53;p12"/>
          <p:cNvPicPr preferRelativeResize="0"/>
          <p:nvPr/>
        </p:nvPicPr>
        <p:blipFill rotWithShape="1">
          <a:blip r:embed="rId3">
            <a:alphaModFix/>
          </a:blip>
          <a:srcRect b="0" l="0" r="33271" t="0"/>
          <a:stretch/>
        </p:blipFill>
        <p:spPr>
          <a:xfrm>
            <a:off x="6172156" y="0"/>
            <a:ext cx="6095841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2"/>
          <p:cNvSpPr/>
          <p:nvPr/>
        </p:nvSpPr>
        <p:spPr>
          <a:xfrm>
            <a:off x="6172155" y="5785658"/>
            <a:ext cx="6095700" cy="1072500"/>
          </a:xfrm>
          <a:prstGeom prst="rect">
            <a:avLst/>
          </a:prstGeom>
          <a:solidFill>
            <a:srgbClr val="181C62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2"/>
          <p:cNvSpPr/>
          <p:nvPr/>
        </p:nvSpPr>
        <p:spPr>
          <a:xfrm>
            <a:off x="0" y="5785658"/>
            <a:ext cx="6172200" cy="1072500"/>
          </a:xfrm>
          <a:prstGeom prst="rect">
            <a:avLst/>
          </a:prstGeom>
          <a:solidFill>
            <a:srgbClr val="181C6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2"/>
          <p:cNvSpPr/>
          <p:nvPr/>
        </p:nvSpPr>
        <p:spPr>
          <a:xfrm>
            <a:off x="1" y="0"/>
            <a:ext cx="457200" cy="6858000"/>
          </a:xfrm>
          <a:prstGeom prst="rect">
            <a:avLst/>
          </a:prstGeom>
          <a:solidFill>
            <a:srgbClr val="C51A4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2"/>
          <p:cNvSpPr txBox="1"/>
          <p:nvPr/>
        </p:nvSpPr>
        <p:spPr>
          <a:xfrm>
            <a:off x="753947" y="2199834"/>
            <a:ext cx="4842300" cy="13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4000"/>
              <a:buFont typeface="Open Sans Light"/>
              <a:buNone/>
            </a:pPr>
            <a:r>
              <a:rPr lang="en-US" sz="3200">
                <a:solidFill>
                  <a:srgbClr val="181C6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(SCTP) Advanced Professional Certificate</a:t>
            </a:r>
            <a:endParaRPr sz="3200"/>
          </a:p>
        </p:txBody>
      </p:sp>
      <p:sp>
        <p:nvSpPr>
          <p:cNvPr id="58" name="Google Shape;58;p12"/>
          <p:cNvSpPr txBox="1"/>
          <p:nvPr/>
        </p:nvSpPr>
        <p:spPr>
          <a:xfrm>
            <a:off x="750001" y="3429000"/>
            <a:ext cx="51897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0000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t/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C62"/>
              </a:buClr>
              <a:buSzPts val="2000"/>
              <a:buFont typeface="Open Sans"/>
              <a:buNone/>
            </a:pPr>
            <a:r>
              <a:rPr b="1" lang="en-US" sz="3200">
                <a:solidFill>
                  <a:srgbClr val="181C62"/>
                </a:solidFill>
                <a:latin typeface="Open Sans"/>
                <a:ea typeface="Open Sans"/>
                <a:cs typeface="Open Sans"/>
                <a:sym typeface="Open Sans"/>
              </a:rPr>
              <a:t>Data Science and AI</a:t>
            </a:r>
            <a:endParaRPr b="1" sz="3200">
              <a:solidFill>
                <a:srgbClr val="181C6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9" name="Google Shape;59;p12"/>
          <p:cNvPicPr preferRelativeResize="0"/>
          <p:nvPr/>
        </p:nvPicPr>
        <p:blipFill rotWithShape="1">
          <a:blip r:embed="rId4">
            <a:alphaModFix/>
          </a:blip>
          <a:srcRect b="33662" l="0" r="0" t="30759"/>
          <a:stretch/>
        </p:blipFill>
        <p:spPr>
          <a:xfrm>
            <a:off x="457188" y="0"/>
            <a:ext cx="5684722" cy="132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799579" y="2882000"/>
            <a:ext cx="1059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b="1" lang="en-US">
                <a:solidFill>
                  <a:schemeClr val="lt1"/>
                </a:solidFill>
              </a:rPr>
              <a:t>3.10 Transformers, Attention &amp; GenAI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502053" y="197167"/>
            <a:ext cx="11079600" cy="1013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Module Overview</a:t>
            </a:r>
            <a:endParaRPr sz="4800"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502453" y="1317233"/>
            <a:ext cx="11079600" cy="4809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3.1 Introduction to Machine Learning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3.2 Probability and Statistics for Machine Learning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3.3 Supervised Learning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3.4 Supervised Learning - Advanced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3.5 Unsupervised Learning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3.6 Time Series Data &amp; Forecasting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3.7 Neural Network &amp; Deep Learning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3.8 Computer Vision (CV)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/>
              <a:t>3.9 Natural Language Processing (NLP)</a:t>
            </a:r>
            <a:endParaRPr sz="1900"/>
          </a:p>
          <a:p>
            <a:pPr indent="0" lvl="0" marL="0" rtl="0" algn="l">
              <a:spcBef>
                <a:spcPts val="1300"/>
              </a:spcBef>
              <a:spcAft>
                <a:spcPts val="130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1900">
                <a:highlight>
                  <a:srgbClr val="FFFF00"/>
                </a:highlight>
              </a:rPr>
              <a:t>3.10 Transformers, Attention &amp; GenAI</a:t>
            </a:r>
            <a:endParaRPr sz="19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SzPts val="7200"/>
              <a:buFont typeface="Open Sans"/>
              <a:buNone/>
            </a:pPr>
            <a:r>
              <a:rPr lang="en-US" sz="72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L10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Open Sans"/>
              <a:buNone/>
            </a:pPr>
            <a: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Transformers</a:t>
            </a:r>
            <a:br>
              <a:rPr lang="en-US" sz="7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b="1" lang="en-US" sz="70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&amp; GenAI</a:t>
            </a:r>
            <a:endParaRPr>
              <a:solidFill>
                <a:srgbClr val="FF9900"/>
              </a:solidFill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Open Sans"/>
              <a:buNone/>
            </a:pPr>
            <a:r>
              <a:rPr i="1" lang="en-US" sz="2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Attention  ·  LLMs  ·  RAG  ·  the architecture behind ChatGPT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Where We Left Off</a:t>
            </a:r>
            <a:endParaRPr/>
          </a:p>
        </p:txBody>
      </p:sp>
      <p:sp>
        <p:nvSpPr>
          <p:cNvPr id="89" name="Google Shape;89;p16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Search shipped. Marcus's final ask.</a:t>
            </a:r>
            <a:endParaRPr/>
          </a:p>
        </p:txBody>
      </p:sp>
      <p:sp>
        <p:nvSpPr>
          <p:cNvPr id="90" name="Google Shape;90;p16"/>
          <p:cNvSpPr/>
          <p:nvPr/>
        </p:nvSpPr>
        <p:spPr>
          <a:xfrm>
            <a:off x="548640" y="1457784"/>
            <a:ext cx="11064300" cy="1726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Marcus, end of L09:</a:t>
            </a:r>
            <a:endParaRPr/>
          </a:p>
        </p:txBody>
      </p:sp>
      <p:sp>
        <p:nvSpPr>
          <p:cNvPr id="92" name="Google Shape;92;p16"/>
          <p:cNvSpPr txBox="1"/>
          <p:nvPr/>
        </p:nvSpPr>
        <p:spPr>
          <a:xfrm>
            <a:off x="822960" y="210312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"Can we build a shopping ASSISTANT? Customer asks 'I need a summer outfit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beach holiday under £200' — it understands the question AND recommends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actual products from our catalogue."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548640" y="338328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What's different this week</a:t>
            </a:r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640080" y="39319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Open the black box</a:t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89120" y="39319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Where do embeddings come from? Attention + transformers.</a:t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640080" y="43891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Use an LLM</a:t>
            </a:r>
            <a:endParaRPr/>
          </a:p>
        </p:txBody>
      </p:sp>
      <p:sp>
        <p:nvSpPr>
          <p:cNvPr id="97" name="Google Shape;97;p16"/>
          <p:cNvSpPr txBox="1"/>
          <p:nvPr/>
        </p:nvSpPr>
        <p:spPr>
          <a:xfrm>
            <a:off x="4389120" y="43891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Load a small model, tokenize, generate, sample, chat-format.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640080" y="48463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Build RAG end-to-end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4389120" y="48463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Combine L09 retrieval with LLM generation — the GenAI stack.</a:t>
            </a:r>
            <a:endParaRPr/>
          </a:p>
        </p:txBody>
      </p:sp>
      <p:sp>
        <p:nvSpPr>
          <p:cNvPr id="100" name="Google Shape;100;p16"/>
          <p:cNvSpPr txBox="1"/>
          <p:nvPr/>
        </p:nvSpPr>
        <p:spPr>
          <a:xfrm>
            <a:off x="640080" y="53035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▸ Module 3 closes</a:t>
            </a:r>
            <a:endParaRPr/>
          </a:p>
        </p:txBody>
      </p:sp>
      <p:sp>
        <p:nvSpPr>
          <p:cNvPr id="101" name="Google Shape;101;p16"/>
          <p:cNvSpPr txBox="1"/>
          <p:nvPr/>
        </p:nvSpPr>
        <p:spPr>
          <a:xfrm>
            <a:off x="4389120" y="5303520"/>
            <a:ext cx="7315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By Friday you'll have the modern ML toolkit, end to end.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Today's Three Questions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attention to GenAI</a:t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548640" y="15544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7"/>
          <p:cNvSpPr txBox="1"/>
          <p:nvPr/>
        </p:nvSpPr>
        <p:spPr>
          <a:xfrm>
            <a:off x="548640" y="18288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417320" y="15544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645920" y="16916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attention?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does it actually compute?</a:t>
            </a:r>
            <a:endParaRPr/>
          </a:p>
        </p:txBody>
      </p:sp>
      <p:sp>
        <p:nvSpPr>
          <p:cNvPr id="115" name="Google Shape;115;p17"/>
          <p:cNvSpPr txBox="1"/>
          <p:nvPr/>
        </p:nvSpPr>
        <p:spPr>
          <a:xfrm>
            <a:off x="1645920" y="242316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matrix multiply + softmax that lets each token see every other token, weighted by relevance.</a:t>
            </a:r>
            <a:endParaRPr/>
          </a:p>
        </p:txBody>
      </p:sp>
      <p:sp>
        <p:nvSpPr>
          <p:cNvPr id="116" name="Google Shape;116;p17"/>
          <p:cNvSpPr/>
          <p:nvPr/>
        </p:nvSpPr>
        <p:spPr>
          <a:xfrm>
            <a:off x="548640" y="30175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548640" y="32918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18" name="Google Shape;118;p17"/>
          <p:cNvSpPr/>
          <p:nvPr/>
        </p:nvSpPr>
        <p:spPr>
          <a:xfrm>
            <a:off x="1417320" y="30175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1645920" y="31546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is an LLM,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mechanically?</a:t>
            </a:r>
            <a:endParaRPr/>
          </a:p>
        </p:txBody>
      </p:sp>
      <p:sp>
        <p:nvSpPr>
          <p:cNvPr id="120" name="Google Shape;120;p17"/>
          <p:cNvSpPr txBox="1"/>
          <p:nvPr/>
        </p:nvSpPr>
        <p:spPr>
          <a:xfrm>
            <a:off x="1645920" y="38862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 transformer trained to predict the next token. Generation is a one-token-at-a-time loop.</a:t>
            </a:r>
            <a:endParaRPr/>
          </a:p>
        </p:txBody>
      </p:sp>
      <p:sp>
        <p:nvSpPr>
          <p:cNvPr id="121" name="Google Shape;121;p17"/>
          <p:cNvSpPr/>
          <p:nvPr/>
        </p:nvSpPr>
        <p:spPr>
          <a:xfrm>
            <a:off x="548640" y="44805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548640" y="47548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1417320" y="44805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645920" y="46177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How do you USE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 LLM on YOUR data?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1645920" y="53492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RAG: retrieve relevant docs, stuff them in the prompt, let the LLM answer with grounding.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Attention?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context problem in one example</a:t>
            </a: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548640" y="1554480"/>
            <a:ext cx="11064240" cy="1726387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Read these two sentences: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822960" y="2103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trophy didn't fit in the suitcase because IT was too big."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22960" y="2606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9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trophy didn't fit in the suitcase because IT was too small."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548640" y="3383280"/>
            <a:ext cx="1106424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22960" y="34290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First IT = trophy (too big). Second IT = suitcase (too small). Same word, different meaning.</a:t>
            </a: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548640" y="4114800"/>
            <a:ext cx="11064240" cy="21579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822960" y="42519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the model needs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822960" y="4709160"/>
            <a:ext cx="10515600" cy="14026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To disambiguate IT, look at every other word in the sentence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Weight some heavily (trophy, suitcase, big/small) and some lightly (the, was)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Use the weighting to build a context-aware representation of 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Q · K · V — Three Vectors Per Token</a:t>
            </a:r>
            <a:endParaRPr/>
          </a:p>
        </p:txBody>
      </p:sp>
      <p:sp>
        <p:nvSpPr>
          <p:cNvPr id="152" name="Google Shape;152;p19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attention computes</a:t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548640" y="155448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822960" y="16002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For each token, the model computes three vectors via learned projections.</a:t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548640" y="2240280"/>
            <a:ext cx="2286000" cy="917143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548640" y="24231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(Q)</a:t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2971800" y="22402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3200400" y="24231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THIS token is looking for</a:t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548640" y="3154680"/>
            <a:ext cx="2286000" cy="917143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548640" y="33375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KEY (K)</a:t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2971800" y="31546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200400" y="33375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each OTHER token offers — labels for matching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48640" y="4069080"/>
            <a:ext cx="2286000" cy="917143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548640" y="42519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VALUE (V)</a:t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2971800" y="4069080"/>
            <a:ext cx="8595360" cy="917143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3200400" y="4251960"/>
            <a:ext cx="8229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actual content each token contributes</a:t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48640" y="5305702"/>
            <a:ext cx="11064300" cy="7554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822960" y="5486400"/>
            <a:ext cx="10515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attention(Q, K, V) = softmax(Q · Kᵀ / √d) · V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Attention Formula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Three steps, in plain English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48640" y="1691640"/>
            <a:ext cx="73152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48640" y="210312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1417320" y="169164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645920" y="182880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Dot products Q · Kᵀ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645920" y="224028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Similarity score for every (query, key) pair.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Result: a seq_len × seq_len matrix of scores.</a:t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548640" y="3108960"/>
            <a:ext cx="731520" cy="151058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48640" y="352044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1417320" y="310896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645920" y="324612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Scale + softmax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1645920" y="365760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Divide by √d to control magnitude, then softmax along each row.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row now sums to 1 — these are ATTENTION WEIGHTS.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48640" y="4526280"/>
            <a:ext cx="731520" cy="15105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548640" y="4937760"/>
            <a:ext cx="73152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1417320" y="4526280"/>
            <a:ext cx="10149840" cy="15105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645920" y="4663440"/>
            <a:ext cx="978408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Weighted sum: weights · V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1645920" y="5074920"/>
            <a:ext cx="978408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output token = weighted average of all values, using the weights.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Result: every token now contains info from every other token, focused on the relevant ones.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Multi-Head Attention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Several attentions in parallel, each with its specialty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48640" y="155448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822960" y="1600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One attention layer learns ONE relationship. Real models need many.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48640" y="2468880"/>
            <a:ext cx="2560320" cy="215798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64008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1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4008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Coreference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(pronouns → entities)</a:t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3383280" y="2468880"/>
            <a:ext cx="2560320" cy="21579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347472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2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347472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Subject-verb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syntactic structure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6217920" y="2468880"/>
            <a:ext cx="2560320" cy="215798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30936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3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30936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Modifier-noun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adjective relationships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9052560" y="2468880"/>
            <a:ext cx="2560320" cy="2157984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9144000" y="2697480"/>
            <a:ext cx="23774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Head 4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144000" y="3200400"/>
            <a:ext cx="2377440" cy="1186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Long-range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discourse structure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548640" y="466344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Real transformers use 8-16 heads per layer × 12-96 layers.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48640" y="5212080"/>
            <a:ext cx="1106424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head's specialty EMERGES from training — nobody hand-designs them.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The Transformer Block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Lego brick of modern NLP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48650" y="1302574"/>
            <a:ext cx="11064300" cy="539400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823000" y="1437097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ONE block = attention + feed-forward, each wrapped in residual + LayerNorm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48650" y="1860275"/>
            <a:ext cx="11064300" cy="466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777260" y="1980978"/>
            <a:ext cx="10515600" cy="4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input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Multi-head Self-Attention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+ input (residual)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LayerNorm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Feed-Forward (2 linear layers + ReLU)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+ previous (residual)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LayerNorm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output (same shape as input)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Same Recipe, Different Scale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From MiniLM to GPT-4</a:t>
            </a:r>
            <a:endParaRPr/>
          </a:p>
        </p:txBody>
      </p:sp>
      <p:sp>
        <p:nvSpPr>
          <p:cNvPr id="240" name="Google Shape;240;p23"/>
          <p:cNvSpPr/>
          <p:nvPr/>
        </p:nvSpPr>
        <p:spPr>
          <a:xfrm>
            <a:off x="548640" y="169164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1" name="Google Shape;241;p23"/>
          <p:cNvSpPr txBox="1"/>
          <p:nvPr/>
        </p:nvSpPr>
        <p:spPr>
          <a:xfrm>
            <a:off x="777240" y="17373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Model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657600" y="173736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Params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486400" y="17373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Layers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858000" y="17373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d_model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229600" y="17373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Training data</a:t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548640" y="224028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3"/>
          <p:cNvSpPr txBox="1"/>
          <p:nvPr/>
        </p:nvSpPr>
        <p:spPr>
          <a:xfrm>
            <a:off x="777240" y="22860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all-MiniLM-L6-v2 (L09)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3657600" y="228600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22M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5486400" y="22860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858000" y="22860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384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8229600" y="22860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1B+ sentence pairs</a:t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548640" y="274320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3" name="Google Shape;253;p23"/>
          <p:cNvSpPr txBox="1"/>
          <p:nvPr/>
        </p:nvSpPr>
        <p:spPr>
          <a:xfrm>
            <a:off x="777240" y="27889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BERT-base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3657600" y="278892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110M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486400" y="278892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858000" y="278892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768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8229600" y="278892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Wikipedia + books</a:t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548640" y="324612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777240" y="32918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GPT-2 medium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3657600" y="329184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355M</a:t>
            </a:r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5486400" y="329184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6858000" y="329184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1,024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8229600" y="329184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WebText (40GB)</a:t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548640" y="374904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3"/>
          <p:cNvSpPr txBox="1"/>
          <p:nvPr/>
        </p:nvSpPr>
        <p:spPr>
          <a:xfrm>
            <a:off x="777240" y="37947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SmolLM2-360M (today's LLM)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3657600" y="379476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361M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5486400" y="37947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6858000" y="379476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960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8229600" y="379476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Open web + curation</a:t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548640" y="425196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777240" y="42976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GPT-3</a:t>
            </a:r>
            <a:endParaRPr/>
          </a:p>
        </p:txBody>
      </p:sp>
      <p:sp>
        <p:nvSpPr>
          <p:cNvPr id="272" name="Google Shape;272;p23"/>
          <p:cNvSpPr txBox="1"/>
          <p:nvPr/>
        </p:nvSpPr>
        <p:spPr>
          <a:xfrm>
            <a:off x="3657600" y="429768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175B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5486400" y="429768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96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6858000" y="429768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12,288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8229600" y="429768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Internet + books + code</a:t>
            </a:r>
            <a:endParaRPr/>
          </a:p>
        </p:txBody>
      </p:sp>
      <p:sp>
        <p:nvSpPr>
          <p:cNvPr id="276" name="Google Shape;276;p23"/>
          <p:cNvSpPr/>
          <p:nvPr/>
        </p:nvSpPr>
        <p:spPr>
          <a:xfrm>
            <a:off x="548640" y="475488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777240" y="48006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GPT-4 (estimated)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3657600" y="4800600"/>
            <a:ext cx="1828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~1T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5486400" y="48006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858000" y="4800600"/>
            <a:ext cx="1371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?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8229600" y="4800600"/>
            <a:ext cx="3200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Internet + code + RLHF</a:t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548640" y="5440680"/>
            <a:ext cx="11064240" cy="64739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822960" y="5532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Same Lego brick. What changes: more bricks, more data, more post-training, more money.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CODE-ALONG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02_attention_intuition.ipynb</a:t>
            </a:r>
            <a:endParaRPr/>
          </a:p>
        </p:txBody>
      </p:sp>
      <p:sp>
        <p:nvSpPr>
          <p:cNvPr id="294" name="Google Shape;294;p24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295" name="Google Shape;295;p24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Compute attention scores by hand on a toy 6-token sentence</a:t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Visualise the attention weights as a heatmap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See multi-head attention with two patterns side by side</a:t>
            </a:r>
            <a:endParaRPr/>
          </a:p>
        </p:txBody>
      </p:sp>
      <p:sp>
        <p:nvSpPr>
          <p:cNvPr id="298" name="Google Shape;298;p24"/>
          <p:cNvSpPr txBox="1"/>
          <p:nvPr/>
        </p:nvSpPr>
        <p:spPr>
          <a:xfrm>
            <a:off x="914400" y="4892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Sketch a transformer block in PyTorch</a:t>
            </a:r>
            <a:endParaRPr/>
          </a:p>
        </p:txBody>
      </p:sp>
      <p:sp>
        <p:nvSpPr>
          <p:cNvPr id="299" name="Google Shape;299;p24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20 minutes  ·  Stop at the Extension marker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 An LLM Actually Does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Predict the next token. That's it.</a:t>
            </a:r>
            <a:endParaRPr/>
          </a:p>
        </p:txBody>
      </p:sp>
      <p:sp>
        <p:nvSpPr>
          <p:cNvPr id="310" name="Google Shape;310;p25"/>
          <p:cNvSpPr/>
          <p:nvPr/>
        </p:nvSpPr>
        <p:spPr>
          <a:xfrm>
            <a:off x="548640" y="1554480"/>
            <a:ext cx="11064240" cy="16184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25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Input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822960" y="20574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"The cat sat on the"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822960" y="25146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→ Probability distribution over the vocabulary:</a:t>
            </a:r>
            <a:endParaRPr/>
          </a:p>
        </p:txBody>
      </p:sp>
      <p:sp>
        <p:nvSpPr>
          <p:cNvPr id="314" name="Google Shape;314;p25"/>
          <p:cNvSpPr/>
          <p:nvPr/>
        </p:nvSpPr>
        <p:spPr>
          <a:xfrm>
            <a:off x="548640" y="3063240"/>
            <a:ext cx="11064240" cy="20500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25"/>
          <p:cNvSpPr txBox="1"/>
          <p:nvPr/>
        </p:nvSpPr>
        <p:spPr>
          <a:xfrm>
            <a:off x="822960" y="3200400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mat</a:t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3657600" y="3246120"/>
            <a:ext cx="3108960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25"/>
          <p:cNvSpPr txBox="1"/>
          <p:nvPr/>
        </p:nvSpPr>
        <p:spPr>
          <a:xfrm>
            <a:off x="6858000" y="3200400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0.34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822960" y="3529584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floor</a:t>
            </a:r>
            <a:endParaRPr/>
          </a:p>
        </p:txBody>
      </p:sp>
      <p:sp>
        <p:nvSpPr>
          <p:cNvPr id="319" name="Google Shape;319;p25"/>
          <p:cNvSpPr/>
          <p:nvPr/>
        </p:nvSpPr>
        <p:spPr>
          <a:xfrm>
            <a:off x="3657600" y="3575304"/>
            <a:ext cx="1645919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5394959" y="3529584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0.18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822960" y="3858768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rug</a:t>
            </a:r>
            <a:endParaRPr/>
          </a:p>
        </p:txBody>
      </p:sp>
      <p:sp>
        <p:nvSpPr>
          <p:cNvPr id="322" name="Google Shape;322;p25"/>
          <p:cNvSpPr/>
          <p:nvPr/>
        </p:nvSpPr>
        <p:spPr>
          <a:xfrm>
            <a:off x="3657600" y="3904488"/>
            <a:ext cx="822959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4571999" y="3858768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0.09</a:t>
            </a:r>
            <a:endParaRPr/>
          </a:p>
        </p:txBody>
      </p:sp>
      <p:sp>
        <p:nvSpPr>
          <p:cNvPr id="324" name="Google Shape;324;p25"/>
          <p:cNvSpPr txBox="1"/>
          <p:nvPr/>
        </p:nvSpPr>
        <p:spPr>
          <a:xfrm>
            <a:off x="822960" y="4187952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couch</a:t>
            </a:r>
            <a:endParaRPr/>
          </a:p>
        </p:txBody>
      </p:sp>
      <p:sp>
        <p:nvSpPr>
          <p:cNvPr id="325" name="Google Shape;325;p25"/>
          <p:cNvSpPr/>
          <p:nvPr/>
        </p:nvSpPr>
        <p:spPr>
          <a:xfrm>
            <a:off x="3657600" y="4233672"/>
            <a:ext cx="640080" cy="18288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25"/>
          <p:cNvSpPr txBox="1"/>
          <p:nvPr/>
        </p:nvSpPr>
        <p:spPr>
          <a:xfrm>
            <a:off x="4389120" y="4187952"/>
            <a:ext cx="18288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Consolas"/>
                <a:ea typeface="Consolas"/>
                <a:cs typeface="Consolas"/>
                <a:sym typeface="Consolas"/>
              </a:rPr>
              <a:t>0.07</a:t>
            </a:r>
            <a:endParaRPr/>
          </a:p>
        </p:txBody>
      </p:sp>
      <p:sp>
        <p:nvSpPr>
          <p:cNvPr id="327" name="Google Shape;327;p25"/>
          <p:cNvSpPr txBox="1"/>
          <p:nvPr/>
        </p:nvSpPr>
        <p:spPr>
          <a:xfrm>
            <a:off x="822960" y="4517136"/>
            <a:ext cx="27432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/>
          </a:p>
        </p:txBody>
      </p:sp>
      <p:sp>
        <p:nvSpPr>
          <p:cNvPr id="328" name="Google Shape;328;p25"/>
          <p:cNvSpPr/>
          <p:nvPr/>
        </p:nvSpPr>
        <p:spPr>
          <a:xfrm>
            <a:off x="548640" y="5029200"/>
            <a:ext cx="1106424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25"/>
          <p:cNvSpPr txBox="1"/>
          <p:nvPr/>
        </p:nvSpPr>
        <p:spPr>
          <a:xfrm>
            <a:off x="822960" y="51663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Generate: pick one (greedy / sample) → append → run again → repeat.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Every ChatGPT response is generated by this loop, one token at a time.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Sampling — From Distribution To Token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Temperature, top-k, top-p</a:t>
            </a:r>
            <a:endParaRPr/>
          </a:p>
        </p:txBody>
      </p:sp>
      <p:sp>
        <p:nvSpPr>
          <p:cNvPr id="339" name="Google Shape;339;p26"/>
          <p:cNvSpPr/>
          <p:nvPr/>
        </p:nvSpPr>
        <p:spPr>
          <a:xfrm>
            <a:off x="548640" y="1691640"/>
            <a:ext cx="2286000" cy="10789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0" name="Google Shape;340;p26"/>
          <p:cNvSpPr txBox="1"/>
          <p:nvPr/>
        </p:nvSpPr>
        <p:spPr>
          <a:xfrm>
            <a:off x="548640" y="196596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Greedy</a:t>
            </a:r>
            <a:endParaRPr/>
          </a:p>
        </p:txBody>
      </p:sp>
      <p:sp>
        <p:nvSpPr>
          <p:cNvPr id="341" name="Google Shape;341;p26"/>
          <p:cNvSpPr/>
          <p:nvPr/>
        </p:nvSpPr>
        <p:spPr>
          <a:xfrm>
            <a:off x="2971800" y="169164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2" name="Google Shape;342;p26"/>
          <p:cNvSpPr txBox="1"/>
          <p:nvPr/>
        </p:nvSpPr>
        <p:spPr>
          <a:xfrm>
            <a:off x="3200400" y="192024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Pick argmax. Deterministic, often repetitive. Good for code.</a:t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548640" y="2743200"/>
            <a:ext cx="228600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4" name="Google Shape;344;p26"/>
          <p:cNvSpPr txBox="1"/>
          <p:nvPr/>
        </p:nvSpPr>
        <p:spPr>
          <a:xfrm>
            <a:off x="548640" y="301752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Temperature</a:t>
            </a:r>
            <a:endParaRPr/>
          </a:p>
        </p:txBody>
      </p:sp>
      <p:sp>
        <p:nvSpPr>
          <p:cNvPr id="345" name="Google Shape;345;p26"/>
          <p:cNvSpPr/>
          <p:nvPr/>
        </p:nvSpPr>
        <p:spPr>
          <a:xfrm>
            <a:off x="2971800" y="274320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6" name="Google Shape;346;p26"/>
          <p:cNvSpPr txBox="1"/>
          <p:nvPr/>
        </p:nvSpPr>
        <p:spPr>
          <a:xfrm>
            <a:off x="3200400" y="297180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Scale logits before softmax. T&lt;1 → sharper; T&gt;1 → flatter. T=0 ≡ greedy.</a:t>
            </a:r>
            <a:endParaRPr/>
          </a:p>
        </p:txBody>
      </p:sp>
      <p:sp>
        <p:nvSpPr>
          <p:cNvPr id="347" name="Google Shape;347;p26"/>
          <p:cNvSpPr/>
          <p:nvPr/>
        </p:nvSpPr>
        <p:spPr>
          <a:xfrm>
            <a:off x="548640" y="3794760"/>
            <a:ext cx="228600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8" name="Google Shape;348;p26"/>
          <p:cNvSpPr txBox="1"/>
          <p:nvPr/>
        </p:nvSpPr>
        <p:spPr>
          <a:xfrm>
            <a:off x="548640" y="406908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Top-k</a:t>
            </a:r>
            <a:endParaRPr/>
          </a:p>
        </p:txBody>
      </p:sp>
      <p:sp>
        <p:nvSpPr>
          <p:cNvPr id="349" name="Google Shape;349;p26"/>
          <p:cNvSpPr/>
          <p:nvPr/>
        </p:nvSpPr>
        <p:spPr>
          <a:xfrm>
            <a:off x="2971800" y="379476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0" name="Google Shape;350;p26"/>
          <p:cNvSpPr txBox="1"/>
          <p:nvPr/>
        </p:nvSpPr>
        <p:spPr>
          <a:xfrm>
            <a:off x="3200400" y="402336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Only sample from the k highest-probability tokens. Cuts the long tail.</a:t>
            </a:r>
            <a:endParaRPr/>
          </a:p>
        </p:txBody>
      </p:sp>
      <p:sp>
        <p:nvSpPr>
          <p:cNvPr id="351" name="Google Shape;351;p26"/>
          <p:cNvSpPr/>
          <p:nvPr/>
        </p:nvSpPr>
        <p:spPr>
          <a:xfrm>
            <a:off x="548640" y="4846320"/>
            <a:ext cx="2286000" cy="107899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2" name="Google Shape;352;p26"/>
          <p:cNvSpPr txBox="1"/>
          <p:nvPr/>
        </p:nvSpPr>
        <p:spPr>
          <a:xfrm>
            <a:off x="548640" y="5120640"/>
            <a:ext cx="22860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Top-p (nucleus)</a:t>
            </a:r>
            <a:endParaRPr/>
          </a:p>
        </p:txBody>
      </p:sp>
      <p:sp>
        <p:nvSpPr>
          <p:cNvPr id="353" name="Google Shape;353;p26"/>
          <p:cNvSpPr/>
          <p:nvPr/>
        </p:nvSpPr>
        <p:spPr>
          <a:xfrm>
            <a:off x="2971800" y="4846320"/>
            <a:ext cx="8595360" cy="1078992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4" name="Google Shape;354;p26"/>
          <p:cNvSpPr txBox="1"/>
          <p:nvPr/>
        </p:nvSpPr>
        <p:spPr>
          <a:xfrm>
            <a:off x="3200400" y="5074920"/>
            <a:ext cx="8229600" cy="647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Only sample from the smallest set summing to probability mass p. Adaptive cutoff.</a:t>
            </a:r>
            <a:endParaRPr/>
          </a:p>
        </p:txBody>
      </p:sp>
      <p:sp>
        <p:nvSpPr>
          <p:cNvPr id="355" name="Google Shape;355;p26"/>
          <p:cNvSpPr/>
          <p:nvPr/>
        </p:nvSpPr>
        <p:spPr>
          <a:xfrm>
            <a:off x="548640" y="5989320"/>
            <a:ext cx="11064240" cy="431596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6" name="Google Shape;356;p26"/>
          <p:cNvSpPr txBox="1"/>
          <p:nvPr/>
        </p:nvSpPr>
        <p:spPr>
          <a:xfrm>
            <a:off x="822960" y="6035040"/>
            <a:ext cx="10515600" cy="323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Production default: T=0.7 + top-p=0.9. Lower for code (T=0.2). Higher for creative writing (T=1.0+).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3" name="Google Shape;363;p2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" name="Google Shape;364;p2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Chat Templates</a:t>
            </a:r>
            <a:endParaRPr/>
          </a:p>
        </p:txBody>
      </p:sp>
      <p:sp>
        <p:nvSpPr>
          <p:cNvPr id="365" name="Google Shape;365;p27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Format matters — instruction-tuned models expect specific tokens</a:t>
            </a:r>
            <a:endParaRPr/>
          </a:p>
        </p:txBody>
      </p:sp>
      <p:sp>
        <p:nvSpPr>
          <p:cNvPr id="366" name="Google Shape;366;p27"/>
          <p:cNvSpPr/>
          <p:nvPr/>
        </p:nvSpPr>
        <p:spPr>
          <a:xfrm>
            <a:off x="548640" y="1554480"/>
            <a:ext cx="11064240" cy="25895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7" name="Google Shape;367;p27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SmolLM2's chat template (each model family has its own):</a:t>
            </a:r>
            <a:endParaRPr/>
          </a:p>
        </p:txBody>
      </p:sp>
      <p:sp>
        <p:nvSpPr>
          <p:cNvPr id="368" name="Google Shape;368;p27"/>
          <p:cNvSpPr txBox="1"/>
          <p:nvPr/>
        </p:nvSpPr>
        <p:spPr>
          <a:xfrm>
            <a:off x="822960" y="2103120"/>
            <a:ext cx="10515600" cy="1834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You are a helpful retail assistant.&lt;|im_end|&gt;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&lt;|im_start|&gt;user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What's a good summer dress?&lt;|im_end|&gt;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&lt;|im_start|&gt;assistant</a:t>
            </a:r>
            <a:endParaRPr/>
          </a:p>
        </p:txBody>
      </p:sp>
      <p:sp>
        <p:nvSpPr>
          <p:cNvPr id="369" name="Google Shape;369;p27"/>
          <p:cNvSpPr/>
          <p:nvPr/>
        </p:nvSpPr>
        <p:spPr>
          <a:xfrm>
            <a:off x="548640" y="3931920"/>
            <a:ext cx="11064240" cy="2157984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70" name="Google Shape;370;p27"/>
          <p:cNvSpPr txBox="1"/>
          <p:nvPr/>
        </p:nvSpPr>
        <p:spPr>
          <a:xfrm>
            <a:off x="822960" y="40690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rules</a:t>
            </a:r>
            <a:endParaRPr/>
          </a:p>
        </p:txBody>
      </p:sp>
      <p:sp>
        <p:nvSpPr>
          <p:cNvPr id="371" name="Google Shape;371;p27"/>
          <p:cNvSpPr txBox="1"/>
          <p:nvPr/>
        </p:nvSpPr>
        <p:spPr>
          <a:xfrm>
            <a:off x="822960" y="452628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Use tokenizer.apply_chat_template() — never hand-roll the format</a:t>
            </a:r>
            <a:endParaRPr/>
          </a:p>
        </p:txBody>
      </p:sp>
      <p:sp>
        <p:nvSpPr>
          <p:cNvPr id="372" name="Google Shape;372;p27"/>
          <p:cNvSpPr txBox="1"/>
          <p:nvPr/>
        </p:nvSpPr>
        <p:spPr>
          <a:xfrm>
            <a:off x="822960" y="48920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system → user → assistant turn order (or just user → assistant)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822960" y="52578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Get the format wrong and the model behaves like garbage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CODE-ALONG</a:t>
            </a:r>
            <a:endParaRPr/>
          </a:p>
        </p:txBody>
      </p:sp>
      <p:sp>
        <p:nvSpPr>
          <p:cNvPr id="383" name="Google Shape;383;p28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03_using_an_llm.ipynb</a:t>
            </a:r>
            <a:endParaRPr/>
          </a:p>
        </p:txBody>
      </p:sp>
      <p:sp>
        <p:nvSpPr>
          <p:cNvPr id="384" name="Google Shape;384;p28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385" name="Google Shape;385;p28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Load SmolLM2-360M-Instruct from Hugging Face</a:t>
            </a:r>
            <a:endParaRPr/>
          </a:p>
        </p:txBody>
      </p:sp>
      <p:sp>
        <p:nvSpPr>
          <p:cNvPr id="386" name="Google Shape;386;p28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Watch tokenisation: text → IDs → logits → next token</a:t>
            </a:r>
            <a:endParaRPr/>
          </a:p>
        </p:txBody>
      </p:sp>
      <p:sp>
        <p:nvSpPr>
          <p:cNvPr id="387" name="Google Shape;387;p28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Manual generation loop (10 lines) and model.generate()</a:t>
            </a:r>
            <a:endParaRPr/>
          </a:p>
        </p:txBody>
      </p:sp>
      <p:sp>
        <p:nvSpPr>
          <p:cNvPr id="388" name="Google Shape;388;p28"/>
          <p:cNvSpPr txBox="1"/>
          <p:nvPr/>
        </p:nvSpPr>
        <p:spPr>
          <a:xfrm>
            <a:off x="914400" y="4892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Sampling: greedy vs T=0.7 vs T=1.5; chat templates</a:t>
            </a:r>
            <a:endParaRPr/>
          </a:p>
        </p:txBody>
      </p:sp>
      <p:sp>
        <p:nvSpPr>
          <p:cNvPr id="389" name="Google Shape;389;p28"/>
          <p:cNvSpPr/>
          <p:nvPr/>
        </p:nvSpPr>
        <p:spPr>
          <a:xfrm>
            <a:off x="731520" y="5212080"/>
            <a:ext cx="10698480" cy="1078992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0" name="Google Shape;390;p28"/>
          <p:cNvSpPr txBox="1"/>
          <p:nvPr/>
        </p:nvSpPr>
        <p:spPr>
          <a:xfrm>
            <a:off x="914400" y="539496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 minutes  ·  Stop at the Extension marker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7" name="Google Shape;397;p2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8" name="Google Shape;398;p2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Hallucination</a:t>
            </a:r>
            <a:endParaRPr/>
          </a:p>
        </p:txBody>
      </p:sp>
      <p:sp>
        <p:nvSpPr>
          <p:cNvPr id="399" name="Google Shape;399;p29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LLM doesn't know YOUR data — so it invents</a:t>
            </a:r>
            <a:endParaRPr/>
          </a:p>
        </p:txBody>
      </p:sp>
      <p:sp>
        <p:nvSpPr>
          <p:cNvPr id="400" name="Google Shape;400;p29"/>
          <p:cNvSpPr/>
          <p:nvPr/>
        </p:nvSpPr>
        <p:spPr>
          <a:xfrm>
            <a:off x="548640" y="1554480"/>
            <a:ext cx="11064240" cy="151058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1" name="Google Shape;401;p29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Q: "I'm looking for a summer dress under £80. What does NorthStar have?"</a:t>
            </a:r>
            <a:endParaRPr/>
          </a:p>
        </p:txBody>
      </p:sp>
      <p:sp>
        <p:nvSpPr>
          <p:cNvPr id="402" name="Google Shape;402;p29"/>
          <p:cNvSpPr txBox="1"/>
          <p:nvPr/>
        </p:nvSpPr>
        <p:spPr>
          <a:xfrm>
            <a:off x="822960" y="210312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A (LLM alone): "Sure! NorthStar's Sunburst Linen Dress in coral at £65 is a great choice..."</a:t>
            </a:r>
            <a:endParaRPr/>
          </a:p>
        </p:txBody>
      </p:sp>
      <p:sp>
        <p:nvSpPr>
          <p:cNvPr id="403" name="Google Shape;403;p29"/>
          <p:cNvSpPr/>
          <p:nvPr/>
        </p:nvSpPr>
        <p:spPr>
          <a:xfrm>
            <a:off x="548640" y="3017520"/>
            <a:ext cx="11064240" cy="161848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4" name="Google Shape;404;p29"/>
          <p:cNvSpPr txBox="1"/>
          <p:nvPr/>
        </p:nvSpPr>
        <p:spPr>
          <a:xfrm>
            <a:off x="822960" y="31546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THERE IS NO SUNBURST LINEN DRESS.</a:t>
            </a:r>
            <a:endParaRPr/>
          </a:p>
        </p:txBody>
      </p:sp>
      <p:sp>
        <p:nvSpPr>
          <p:cNvPr id="405" name="Google Shape;405;p29"/>
          <p:cNvSpPr txBox="1"/>
          <p:nvPr/>
        </p:nvSpPr>
        <p:spPr>
          <a:xfrm>
            <a:off x="822960" y="365760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model invented a plausible-sounding product. Fluent. Confident. Completely fictional.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Customers who click and find nothing lose trust forever.</a:t>
            </a:r>
            <a:endParaRPr/>
          </a:p>
        </p:txBody>
      </p:sp>
      <p:sp>
        <p:nvSpPr>
          <p:cNvPr id="406" name="Google Shape;406;p29"/>
          <p:cNvSpPr/>
          <p:nvPr/>
        </p:nvSpPr>
        <p:spPr>
          <a:xfrm>
            <a:off x="548640" y="4572000"/>
            <a:ext cx="11064240" cy="161848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07" name="Google Shape;407;p29"/>
          <p:cNvSpPr txBox="1"/>
          <p:nvPr/>
        </p:nvSpPr>
        <p:spPr>
          <a:xfrm>
            <a:off x="822960" y="4709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this happens</a:t>
            </a:r>
            <a:endParaRPr/>
          </a:p>
        </p:txBody>
      </p:sp>
      <p:sp>
        <p:nvSpPr>
          <p:cNvPr id="408" name="Google Shape;408;p29"/>
          <p:cNvSpPr txBox="1"/>
          <p:nvPr/>
        </p:nvSpPr>
        <p:spPr>
          <a:xfrm>
            <a:off x="822960" y="5166360"/>
            <a:ext cx="10515600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LLM was trained to produce plausible text. It has no access to ground truth.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 any factual question about YOUR data, it will improvise. The fix: give it the data.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6" name="Google Shape;416;p3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RAG — The Fix</a:t>
            </a:r>
            <a:endParaRPr/>
          </a:p>
        </p:txBody>
      </p:sp>
      <p:sp>
        <p:nvSpPr>
          <p:cNvPr id="417" name="Google Shape;417;p30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Retrieve · Augment · Generate</a:t>
            </a:r>
            <a:endParaRPr/>
          </a:p>
        </p:txBody>
      </p:sp>
      <p:sp>
        <p:nvSpPr>
          <p:cNvPr id="418" name="Google Shape;418;p30"/>
          <p:cNvSpPr/>
          <p:nvPr/>
        </p:nvSpPr>
        <p:spPr>
          <a:xfrm>
            <a:off x="548640" y="1315181"/>
            <a:ext cx="11064300" cy="5179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9" name="Google Shape;419;p30"/>
          <p:cNvSpPr txBox="1"/>
          <p:nvPr/>
        </p:nvSpPr>
        <p:spPr>
          <a:xfrm>
            <a:off x="822960" y="1691640"/>
            <a:ext cx="10515600" cy="48554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Customer query: "summer dress under £80"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Embed query (L09 model)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Top-5 by cosine similarity over the catalogue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Format retrieved products into the system prompt: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"You can ONLY recommend from the catalogue below.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CATALOGUE: &lt;retrieved&gt;"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LLM generates answer, grounded in real products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6" name="Google Shape;426;p3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7" name="Google Shape;427;p3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Why RAG Works</a:t>
            </a:r>
            <a:endParaRPr/>
          </a:p>
        </p:txBody>
      </p:sp>
      <p:sp>
        <p:nvSpPr>
          <p:cNvPr id="428" name="Google Shape;428;p31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Each side fixes the other's weakness</a:t>
            </a:r>
            <a:endParaRPr/>
          </a:p>
        </p:txBody>
      </p:sp>
      <p:sp>
        <p:nvSpPr>
          <p:cNvPr id="429" name="Google Shape;429;p31"/>
          <p:cNvSpPr/>
          <p:nvPr/>
        </p:nvSpPr>
        <p:spPr>
          <a:xfrm>
            <a:off x="548650" y="1554475"/>
            <a:ext cx="5394900" cy="4861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0" name="Google Shape;430;p31"/>
          <p:cNvSpPr txBox="1"/>
          <p:nvPr/>
        </p:nvSpPr>
        <p:spPr>
          <a:xfrm>
            <a:off x="777240" y="17830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LLM brings</a:t>
            </a:r>
            <a:endParaRPr/>
          </a:p>
        </p:txBody>
      </p:sp>
      <p:sp>
        <p:nvSpPr>
          <p:cNvPr id="431" name="Google Shape;431;p31"/>
          <p:cNvSpPr txBox="1"/>
          <p:nvPr/>
        </p:nvSpPr>
        <p:spPr>
          <a:xfrm>
            <a:off x="777240" y="2377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Language fluency (formulating sentences)</a:t>
            </a:r>
            <a:endParaRPr/>
          </a:p>
        </p:txBody>
      </p:sp>
      <p:sp>
        <p:nvSpPr>
          <p:cNvPr id="432" name="Google Shape;432;p31"/>
          <p:cNvSpPr txBox="1"/>
          <p:nvPr/>
        </p:nvSpPr>
        <p:spPr>
          <a:xfrm>
            <a:off x="777240" y="288036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General reasoning (price &lt; £200 filtering)</a:t>
            </a:r>
            <a:endParaRPr/>
          </a:p>
        </p:txBody>
      </p:sp>
      <p:sp>
        <p:nvSpPr>
          <p:cNvPr id="433" name="Google Shape;433;p31"/>
          <p:cNvSpPr txBox="1"/>
          <p:nvPr/>
        </p:nvSpPr>
        <p:spPr>
          <a:xfrm>
            <a:off x="777240" y="33832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Question understanding (intent extraction)</a:t>
            </a:r>
            <a:endParaRPr/>
          </a:p>
        </p:txBody>
      </p:sp>
      <p:sp>
        <p:nvSpPr>
          <p:cNvPr id="434" name="Google Shape;434;p31"/>
          <p:cNvSpPr txBox="1"/>
          <p:nvPr/>
        </p:nvSpPr>
        <p:spPr>
          <a:xfrm>
            <a:off x="777240" y="388620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Stylistic flexibility (concise / detailed)</a:t>
            </a:r>
            <a:endParaRPr/>
          </a:p>
        </p:txBody>
      </p:sp>
      <p:sp>
        <p:nvSpPr>
          <p:cNvPr id="435" name="Google Shape;435;p31"/>
          <p:cNvSpPr/>
          <p:nvPr/>
        </p:nvSpPr>
        <p:spPr>
          <a:xfrm>
            <a:off x="6217922" y="1554475"/>
            <a:ext cx="5394900" cy="48612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6" name="Google Shape;436;p31"/>
          <p:cNvSpPr txBox="1"/>
          <p:nvPr/>
        </p:nvSpPr>
        <p:spPr>
          <a:xfrm>
            <a:off x="6446520" y="17830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retrieval brings</a:t>
            </a:r>
            <a:endParaRPr/>
          </a:p>
        </p:txBody>
      </p:sp>
      <p:sp>
        <p:nvSpPr>
          <p:cNvPr id="437" name="Google Shape;437;p31"/>
          <p:cNvSpPr txBox="1"/>
          <p:nvPr/>
        </p:nvSpPr>
        <p:spPr>
          <a:xfrm>
            <a:off x="6446520" y="237744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Up-to-date factual data</a:t>
            </a:r>
            <a:endParaRPr/>
          </a:p>
        </p:txBody>
      </p:sp>
      <p:sp>
        <p:nvSpPr>
          <p:cNvPr id="438" name="Google Shape;438;p31"/>
          <p:cNvSpPr txBox="1"/>
          <p:nvPr/>
        </p:nvSpPr>
        <p:spPr>
          <a:xfrm>
            <a:off x="6446520" y="288036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Specific products the LLM doesn't know</a:t>
            </a:r>
            <a:endParaRPr/>
          </a:p>
        </p:txBody>
      </p:sp>
      <p:sp>
        <p:nvSpPr>
          <p:cNvPr id="439" name="Google Shape;439;p31"/>
          <p:cNvSpPr txBox="1"/>
          <p:nvPr/>
        </p:nvSpPr>
        <p:spPr>
          <a:xfrm>
            <a:off x="6446520" y="338328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Audit trail (you can show source documents)</a:t>
            </a:r>
            <a:endParaRPr/>
          </a:p>
        </p:txBody>
      </p:sp>
      <p:sp>
        <p:nvSpPr>
          <p:cNvPr id="440" name="Google Shape;440;p31"/>
          <p:cNvSpPr txBox="1"/>
          <p:nvPr/>
        </p:nvSpPr>
        <p:spPr>
          <a:xfrm>
            <a:off x="6446520" y="3886200"/>
            <a:ext cx="493776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Easy update (re-embed; no retraining)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7" name="Google Shape;447;p3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8" name="Google Shape;448;p3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49" name="Google Shape;449;p32"/>
          <p:cNvSpPr txBox="1"/>
          <p:nvPr/>
        </p:nvSpPr>
        <p:spPr>
          <a:xfrm>
            <a:off x="731520" y="914400"/>
            <a:ext cx="106984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C8102E"/>
                </a:solidFill>
                <a:latin typeface="Open Sans"/>
                <a:ea typeface="Open Sans"/>
                <a:cs typeface="Open Sans"/>
                <a:sym typeface="Open Sans"/>
              </a:rPr>
              <a:t>CODE-ALONG</a:t>
            </a:r>
            <a:endParaRPr/>
          </a:p>
        </p:txBody>
      </p:sp>
      <p:sp>
        <p:nvSpPr>
          <p:cNvPr id="450" name="Google Shape;450;p32"/>
          <p:cNvSpPr txBox="1"/>
          <p:nvPr/>
        </p:nvSpPr>
        <p:spPr>
          <a:xfrm>
            <a:off x="731520" y="1463040"/>
            <a:ext cx="1069848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Open: 04_rag_pipeline.ipynb</a:t>
            </a:r>
            <a:endParaRPr/>
          </a:p>
        </p:txBody>
      </p:sp>
      <p:sp>
        <p:nvSpPr>
          <p:cNvPr id="451" name="Google Shape;451;p32"/>
          <p:cNvSpPr txBox="1"/>
          <p:nvPr/>
        </p:nvSpPr>
        <p:spPr>
          <a:xfrm>
            <a:off x="731520" y="2834640"/>
            <a:ext cx="10698480" cy="647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What you'll do</a:t>
            </a:r>
            <a:endParaRPr/>
          </a:p>
        </p:txBody>
      </p:sp>
      <p:sp>
        <p:nvSpPr>
          <p:cNvPr id="452" name="Google Shape;452;p32"/>
          <p:cNvSpPr txBox="1"/>
          <p:nvPr/>
        </p:nvSpPr>
        <p:spPr>
          <a:xfrm>
            <a:off x="914400" y="33832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Show LLM hallucinating without context — be horrified</a:t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914400" y="38862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Build the retrieve() function (cosine over catalogue embeddings)</a:t>
            </a:r>
            <a:endParaRPr/>
          </a:p>
        </p:txBody>
      </p:sp>
      <p:sp>
        <p:nvSpPr>
          <p:cNvPr id="454" name="Google Shape;454;p32"/>
          <p:cNvSpPr txBox="1"/>
          <p:nvPr/>
        </p:nvSpPr>
        <p:spPr>
          <a:xfrm>
            <a:off x="914400" y="43891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Construct the augmented system prompt</a:t>
            </a:r>
            <a:endParaRPr/>
          </a:p>
        </p:txBody>
      </p:sp>
      <p:sp>
        <p:nvSpPr>
          <p:cNvPr id="455" name="Google Shape;455;p32"/>
          <p:cNvSpPr txBox="1"/>
          <p:nvPr/>
        </p:nvSpPr>
        <p:spPr>
          <a:xfrm>
            <a:off x="914400" y="48920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Wrap it in a RAGSystem class — production-ready ~50 lines</a:t>
            </a:r>
            <a:endParaRPr/>
          </a:p>
        </p:txBody>
      </p:sp>
      <p:sp>
        <p:nvSpPr>
          <p:cNvPr id="456" name="Google Shape;456;p32"/>
          <p:cNvSpPr/>
          <p:nvPr/>
        </p:nvSpPr>
        <p:spPr>
          <a:xfrm>
            <a:off x="731525" y="5359151"/>
            <a:ext cx="10698600" cy="10065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57" name="Google Shape;457;p32"/>
          <p:cNvSpPr txBox="1"/>
          <p:nvPr/>
        </p:nvSpPr>
        <p:spPr>
          <a:xfrm>
            <a:off x="914400" y="5595791"/>
            <a:ext cx="10515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25 minutes  ·  Stop at the Extension marker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Sarah's Friday Recommendation</a:t>
            </a:r>
            <a:endParaRPr/>
          </a:p>
        </p:txBody>
      </p:sp>
      <p:sp>
        <p:nvSpPr>
          <p:cNvPr id="466" name="Google Shape;466;p33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Production-grade RAG</a:t>
            </a:r>
            <a:endParaRPr/>
          </a:p>
        </p:txBody>
      </p:sp>
      <p:sp>
        <p:nvSpPr>
          <p:cNvPr id="467" name="Google Shape;467;p33"/>
          <p:cNvSpPr/>
          <p:nvPr/>
        </p:nvSpPr>
        <p:spPr>
          <a:xfrm>
            <a:off x="548640" y="1338773"/>
            <a:ext cx="11064300" cy="21579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Sarah, end of L10:</a:t>
            </a:r>
            <a:endParaRPr/>
          </a:p>
        </p:txBody>
      </p:sp>
      <p:sp>
        <p:nvSpPr>
          <p:cNvPr id="469" name="Google Shape;469;p33"/>
          <p:cNvSpPr txBox="1"/>
          <p:nvPr/>
        </p:nvSpPr>
        <p:spPr>
          <a:xfrm>
            <a:off x="822950" y="2103124"/>
            <a:ext cx="10515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"RAG over the catalogue. all-MiniLM-L6-v2 for retrieval. SmolLM2-360M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the demo. For production: hosted API (Claude Haiku / GPT-4 mini)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 quality + cost. Always pass top-5 docs + a strict system prompt."</a:t>
            </a:r>
            <a:endParaRPr/>
          </a:p>
        </p:txBody>
      </p:sp>
      <p:sp>
        <p:nvSpPr>
          <p:cNvPr id="470" name="Google Shape;470;p33"/>
          <p:cNvSpPr txBox="1"/>
          <p:nvPr/>
        </p:nvSpPr>
        <p:spPr>
          <a:xfrm>
            <a:off x="548640" y="3640542"/>
            <a:ext cx="11064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5697"/>
                </a:solidFill>
                <a:latin typeface="Open Sans"/>
                <a:ea typeface="Open Sans"/>
                <a:cs typeface="Open Sans"/>
                <a:sym typeface="Open Sans"/>
              </a:rPr>
              <a:t>Production guardrails (non-negotiable)</a:t>
            </a:r>
            <a:endParaRPr/>
          </a:p>
        </p:txBody>
      </p:sp>
      <p:sp>
        <p:nvSpPr>
          <p:cNvPr id="471" name="Google Shape;471;p33"/>
          <p:cNvSpPr txBox="1"/>
          <p:nvPr/>
        </p:nvSpPr>
        <p:spPr>
          <a:xfrm>
            <a:off x="822960" y="4189182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System prompt: "ONLY recommend products from the catalogue below."</a:t>
            </a:r>
            <a:endParaRPr/>
          </a:p>
        </p:txBody>
      </p:sp>
      <p:sp>
        <p:nvSpPr>
          <p:cNvPr id="472" name="Google Shape;472;p33"/>
          <p:cNvSpPr txBox="1"/>
          <p:nvPr/>
        </p:nvSpPr>
        <p:spPr>
          <a:xfrm>
            <a:off x="822960" y="4573230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Validate product names in the answer against the retrieved set (catch hallucinations).</a:t>
            </a:r>
            <a:endParaRPr/>
          </a:p>
        </p:txBody>
      </p:sp>
      <p:sp>
        <p:nvSpPr>
          <p:cNvPr id="473" name="Google Shape;473;p33"/>
          <p:cNvSpPr txBox="1"/>
          <p:nvPr/>
        </p:nvSpPr>
        <p:spPr>
          <a:xfrm>
            <a:off x="822960" y="4957278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Show source products alongside the answer (audit trail).</a:t>
            </a:r>
            <a:endParaRPr/>
          </a:p>
        </p:txBody>
      </p:sp>
      <p:sp>
        <p:nvSpPr>
          <p:cNvPr id="474" name="Google Shape;474;p33"/>
          <p:cNvSpPr txBox="1"/>
          <p:nvPr/>
        </p:nvSpPr>
        <p:spPr>
          <a:xfrm>
            <a:off x="822960" y="5341326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Log (query → retrieved → answer) for offline eval and weekly quality review.</a:t>
            </a:r>
            <a:endParaRPr/>
          </a:p>
        </p:txBody>
      </p:sp>
      <p:sp>
        <p:nvSpPr>
          <p:cNvPr id="475" name="Google Shape;475;p33"/>
          <p:cNvSpPr txBox="1"/>
          <p:nvPr/>
        </p:nvSpPr>
        <p:spPr>
          <a:xfrm>
            <a:off x="822960" y="5725374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A/B test against L09 keyword+semantic baseline before going broad.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Deployment Trade-Off</a:t>
            </a:r>
            <a:endParaRPr/>
          </a:p>
        </p:txBody>
      </p:sp>
      <p:sp>
        <p:nvSpPr>
          <p:cNvPr id="484" name="Google Shape;484;p34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Cost · Latency · Quality — pick two</a:t>
            </a:r>
            <a:endParaRPr/>
          </a:p>
        </p:txBody>
      </p:sp>
      <p:sp>
        <p:nvSpPr>
          <p:cNvPr id="485" name="Google Shape;485;p34"/>
          <p:cNvSpPr/>
          <p:nvPr/>
        </p:nvSpPr>
        <p:spPr>
          <a:xfrm>
            <a:off x="548640" y="169164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777240" y="173736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Option</a:t>
            </a:r>
            <a:endParaRPr/>
          </a:p>
        </p:txBody>
      </p:sp>
      <p:sp>
        <p:nvSpPr>
          <p:cNvPr id="487" name="Google Shape;487;p34"/>
          <p:cNvSpPr txBox="1"/>
          <p:nvPr/>
        </p:nvSpPr>
        <p:spPr>
          <a:xfrm>
            <a:off x="5029200" y="17373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Latency</a:t>
            </a:r>
            <a:endParaRPr/>
          </a:p>
        </p:txBody>
      </p:sp>
      <p:sp>
        <p:nvSpPr>
          <p:cNvPr id="488" name="Google Shape;488;p34"/>
          <p:cNvSpPr txBox="1"/>
          <p:nvPr/>
        </p:nvSpPr>
        <p:spPr>
          <a:xfrm>
            <a:off x="7772400" y="173736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Quality / cost</a:t>
            </a:r>
            <a:endParaRPr/>
          </a:p>
        </p:txBody>
      </p:sp>
      <p:sp>
        <p:nvSpPr>
          <p:cNvPr id="489" name="Google Shape;489;p34"/>
          <p:cNvSpPr/>
          <p:nvPr/>
        </p:nvSpPr>
        <p:spPr>
          <a:xfrm>
            <a:off x="548640" y="224028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777240" y="233172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Self-host SmolLM2 (free)</a:t>
            </a:r>
            <a:endParaRPr/>
          </a:p>
        </p:txBody>
      </p:sp>
      <p:sp>
        <p:nvSpPr>
          <p:cNvPr id="491" name="Google Shape;491;p34"/>
          <p:cNvSpPr txBox="1"/>
          <p:nvPr/>
        </p:nvSpPr>
        <p:spPr>
          <a:xfrm>
            <a:off x="5029200" y="23317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1-3 s/response CPU</a:t>
            </a:r>
            <a:endParaRPr/>
          </a:p>
        </p:txBody>
      </p:sp>
      <p:sp>
        <p:nvSpPr>
          <p:cNvPr id="492" name="Google Shape;492;p34"/>
          <p:cNvSpPr txBox="1"/>
          <p:nvPr/>
        </p:nvSpPr>
        <p:spPr>
          <a:xfrm>
            <a:off x="7772400" y="233172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Decent for demo, poor for prod</a:t>
            </a:r>
            <a:endParaRPr/>
          </a:p>
        </p:txBody>
      </p:sp>
      <p:sp>
        <p:nvSpPr>
          <p:cNvPr id="493" name="Google Shape;493;p34"/>
          <p:cNvSpPr/>
          <p:nvPr/>
        </p:nvSpPr>
        <p:spPr>
          <a:xfrm>
            <a:off x="548640" y="2834640"/>
            <a:ext cx="11064240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4" name="Google Shape;494;p34"/>
          <p:cNvSpPr txBox="1"/>
          <p:nvPr/>
        </p:nvSpPr>
        <p:spPr>
          <a:xfrm>
            <a:off x="777240" y="292608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Self-host 7B on GPU</a:t>
            </a:r>
            <a:endParaRPr/>
          </a:p>
        </p:txBody>
      </p:sp>
      <p:sp>
        <p:nvSpPr>
          <p:cNvPr id="495" name="Google Shape;495;p34"/>
          <p:cNvSpPr txBox="1"/>
          <p:nvPr/>
        </p:nvSpPr>
        <p:spPr>
          <a:xfrm>
            <a:off x="5029200" y="29260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~200 ms</a:t>
            </a:r>
            <a:endParaRPr/>
          </a:p>
        </p:txBody>
      </p:sp>
      <p:sp>
        <p:nvSpPr>
          <p:cNvPr id="496" name="Google Shape;496;p34"/>
          <p:cNvSpPr txBox="1"/>
          <p:nvPr/>
        </p:nvSpPr>
        <p:spPr>
          <a:xfrm>
            <a:off x="7772400" y="292608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Good. Infra: $$$/month</a:t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548640" y="342900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777240" y="352044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Hosted Claude Haiku / GPT-4 mini</a:t>
            </a:r>
            <a:endParaRPr/>
          </a:p>
        </p:txBody>
      </p:sp>
      <p:sp>
        <p:nvSpPr>
          <p:cNvPr id="499" name="Google Shape;499;p34"/>
          <p:cNvSpPr txBox="1"/>
          <p:nvPr/>
        </p:nvSpPr>
        <p:spPr>
          <a:xfrm>
            <a:off x="5029200" y="35204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~500 ms</a:t>
            </a:r>
            <a:endParaRPr/>
          </a:p>
        </p:txBody>
      </p:sp>
      <p:sp>
        <p:nvSpPr>
          <p:cNvPr id="500" name="Google Shape;500;p34"/>
          <p:cNvSpPr txBox="1"/>
          <p:nvPr/>
        </p:nvSpPr>
        <p:spPr>
          <a:xfrm>
            <a:off x="7772400" y="352044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Excellent. ~$0.001 per query</a:t>
            </a:r>
            <a:endParaRPr/>
          </a:p>
        </p:txBody>
      </p:sp>
      <p:sp>
        <p:nvSpPr>
          <p:cNvPr id="501" name="Google Shape;501;p34"/>
          <p:cNvSpPr/>
          <p:nvPr/>
        </p:nvSpPr>
        <p:spPr>
          <a:xfrm>
            <a:off x="548640" y="4023360"/>
            <a:ext cx="11064240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777240" y="411480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Hosted GPT-4 / Claude Sonnet</a:t>
            </a:r>
            <a:endParaRPr/>
          </a:p>
        </p:txBody>
      </p:sp>
      <p:sp>
        <p:nvSpPr>
          <p:cNvPr id="503" name="Google Shape;503;p34"/>
          <p:cNvSpPr txBox="1"/>
          <p:nvPr/>
        </p:nvSpPr>
        <p:spPr>
          <a:xfrm>
            <a:off x="5029200" y="41148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~2 s</a:t>
            </a:r>
            <a:endParaRPr/>
          </a:p>
        </p:txBody>
      </p:sp>
      <p:sp>
        <p:nvSpPr>
          <p:cNvPr id="504" name="Google Shape;504;p34"/>
          <p:cNvSpPr txBox="1"/>
          <p:nvPr/>
        </p:nvSpPr>
        <p:spPr>
          <a:xfrm>
            <a:off x="7772400" y="411480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Best in class. ~$0.03 per query</a:t>
            </a:r>
            <a:endParaRPr/>
          </a:p>
        </p:txBody>
      </p:sp>
      <p:sp>
        <p:nvSpPr>
          <p:cNvPr id="505" name="Google Shape;505;p34"/>
          <p:cNvSpPr/>
          <p:nvPr/>
        </p:nvSpPr>
        <p:spPr>
          <a:xfrm>
            <a:off x="548640" y="461772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777240" y="4709160"/>
            <a:ext cx="41148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Fine-tuned in-house model</a:t>
            </a:r>
            <a:endParaRPr/>
          </a:p>
        </p:txBody>
      </p:sp>
      <p:sp>
        <p:nvSpPr>
          <p:cNvPr id="507" name="Google Shape;507;p34"/>
          <p:cNvSpPr txBox="1"/>
          <p:nvPr/>
        </p:nvSpPr>
        <p:spPr>
          <a:xfrm>
            <a:off x="5029200" y="47091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1B2A4A"/>
                </a:solidFill>
                <a:latin typeface="Consolas"/>
                <a:ea typeface="Consolas"/>
                <a:cs typeface="Consolas"/>
                <a:sym typeface="Consolas"/>
              </a:rPr>
              <a:t>~100-500 ms</a:t>
            </a:r>
            <a:endParaRPr/>
          </a:p>
        </p:txBody>
      </p:sp>
      <p:sp>
        <p:nvSpPr>
          <p:cNvPr id="508" name="Google Shape;508;p34"/>
          <p:cNvSpPr txBox="1"/>
          <p:nvPr/>
        </p:nvSpPr>
        <p:spPr>
          <a:xfrm>
            <a:off x="7772400" y="4709160"/>
            <a:ext cx="3657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Domain-tuned; high setup cost</a:t>
            </a:r>
            <a:endParaRPr/>
          </a:p>
        </p:txBody>
      </p:sp>
      <p:sp>
        <p:nvSpPr>
          <p:cNvPr id="509" name="Google Shape;509;p34"/>
          <p:cNvSpPr/>
          <p:nvPr/>
        </p:nvSpPr>
        <p:spPr>
          <a:xfrm>
            <a:off x="548640" y="5349240"/>
            <a:ext cx="11064240" cy="5394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0" name="Google Shape;510;p34"/>
          <p:cNvSpPr txBox="1"/>
          <p:nvPr/>
        </p:nvSpPr>
        <p:spPr>
          <a:xfrm>
            <a:off x="822960" y="53949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Most production teams start with hosted API + RAG. Self-host or fine-tune later if needed.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18" name="Google Shape;518;p35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Decision Tree</a:t>
            </a:r>
            <a:endParaRPr/>
          </a:p>
        </p:txBody>
      </p:sp>
      <p:sp>
        <p:nvSpPr>
          <p:cNvPr id="519" name="Google Shape;519;p35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Prompt vs RAG vs fine-tune</a:t>
            </a:r>
            <a:endParaRPr/>
          </a:p>
        </p:txBody>
      </p:sp>
      <p:sp>
        <p:nvSpPr>
          <p:cNvPr id="520" name="Google Shape;520;p35"/>
          <p:cNvSpPr/>
          <p:nvPr/>
        </p:nvSpPr>
        <p:spPr>
          <a:xfrm>
            <a:off x="548650" y="1415933"/>
            <a:ext cx="11064300" cy="4926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1" name="Google Shape;521;p35"/>
          <p:cNvSpPr txBox="1"/>
          <p:nvPr/>
        </p:nvSpPr>
        <p:spPr>
          <a:xfrm>
            <a:off x="822960" y="1553098"/>
            <a:ext cx="10515600" cy="46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v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Does the task require KNOWLEDGE the LLM doesn't have?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+-- NO  --&gt; Just PROMPT (zero-shot or few-shot)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|          [sentiment, summarisation, format conversion]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+-- YES --&gt; Is your knowledge a searchable CORPUS?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+-- YES --&gt; RAG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|          [product catalogue, internal docs, code search]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+-- NO  --&gt; Does the task need a specific STYLE / BEHAVIOUR?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+-- YES --&gt; FINE-TUNE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|          [medical reports, brand voice, structured output]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DE1E6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+-- NO  --&gt; PROMPT harder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8" name="Google Shape;528;p36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9" name="Google Shape;529;p36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Three Things To Remember</a:t>
            </a:r>
            <a:endParaRPr/>
          </a:p>
        </p:txBody>
      </p:sp>
      <p:sp>
        <p:nvSpPr>
          <p:cNvPr id="530" name="Google Shape;530;p36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L10 takeaways</a:t>
            </a:r>
            <a:endParaRPr/>
          </a:p>
        </p:txBody>
      </p:sp>
      <p:sp>
        <p:nvSpPr>
          <p:cNvPr id="531" name="Google Shape;531;p36"/>
          <p:cNvSpPr/>
          <p:nvPr/>
        </p:nvSpPr>
        <p:spPr>
          <a:xfrm>
            <a:off x="548640" y="1554480"/>
            <a:ext cx="731520" cy="156453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2" name="Google Shape;532;p36"/>
          <p:cNvSpPr txBox="1"/>
          <p:nvPr/>
        </p:nvSpPr>
        <p:spPr>
          <a:xfrm>
            <a:off x="548640" y="182880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33" name="Google Shape;533;p36"/>
          <p:cNvSpPr/>
          <p:nvPr/>
        </p:nvSpPr>
        <p:spPr>
          <a:xfrm>
            <a:off x="1417320" y="155448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4" name="Google Shape;534;p36"/>
          <p:cNvSpPr txBox="1"/>
          <p:nvPr/>
        </p:nvSpPr>
        <p:spPr>
          <a:xfrm>
            <a:off x="1645920" y="169164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Attention is the mechanism</a:t>
            </a:r>
            <a:endParaRPr/>
          </a:p>
        </p:txBody>
      </p:sp>
      <p:sp>
        <p:nvSpPr>
          <p:cNvPr id="535" name="Google Shape;535;p36"/>
          <p:cNvSpPr txBox="1"/>
          <p:nvPr/>
        </p:nvSpPr>
        <p:spPr>
          <a:xfrm>
            <a:off x="1645920" y="214884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Every modern NLP model — embeddings, classifiers, LLMs — is a stack of transformer blocks.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The recipe doesn't change with scale.</a:t>
            </a:r>
            <a:endParaRPr/>
          </a:p>
        </p:txBody>
      </p:sp>
      <p:sp>
        <p:nvSpPr>
          <p:cNvPr id="536" name="Google Shape;536;p36"/>
          <p:cNvSpPr/>
          <p:nvPr/>
        </p:nvSpPr>
        <p:spPr>
          <a:xfrm>
            <a:off x="548640" y="3017520"/>
            <a:ext cx="731520" cy="1564538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7" name="Google Shape;537;p36"/>
          <p:cNvSpPr txBox="1"/>
          <p:nvPr/>
        </p:nvSpPr>
        <p:spPr>
          <a:xfrm>
            <a:off x="548640" y="329184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38" name="Google Shape;538;p36"/>
          <p:cNvSpPr/>
          <p:nvPr/>
        </p:nvSpPr>
        <p:spPr>
          <a:xfrm>
            <a:off x="1417320" y="301752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9" name="Google Shape;539;p36"/>
          <p:cNvSpPr txBox="1"/>
          <p:nvPr/>
        </p:nvSpPr>
        <p:spPr>
          <a:xfrm>
            <a:off x="1645920" y="315468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An LLM is a next-token predictor</a:t>
            </a:r>
            <a:endParaRPr/>
          </a:p>
        </p:txBody>
      </p:sp>
      <p:sp>
        <p:nvSpPr>
          <p:cNvPr id="540" name="Google Shape;540;p36"/>
          <p:cNvSpPr txBox="1"/>
          <p:nvPr/>
        </p:nvSpPr>
        <p:spPr>
          <a:xfrm>
            <a:off x="1645920" y="361188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That's literally all it does. Sampling turns a probability distribution into text.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Generation is a one-token-at-a-time loop.</a:t>
            </a:r>
            <a:endParaRPr/>
          </a:p>
        </p:txBody>
      </p:sp>
      <p:sp>
        <p:nvSpPr>
          <p:cNvPr id="541" name="Google Shape;541;p36"/>
          <p:cNvSpPr/>
          <p:nvPr/>
        </p:nvSpPr>
        <p:spPr>
          <a:xfrm>
            <a:off x="548640" y="4480560"/>
            <a:ext cx="731520" cy="1564538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36"/>
          <p:cNvSpPr txBox="1"/>
          <p:nvPr/>
        </p:nvSpPr>
        <p:spPr>
          <a:xfrm>
            <a:off x="548640" y="4754880"/>
            <a:ext cx="73152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43" name="Google Shape;543;p36"/>
          <p:cNvSpPr/>
          <p:nvPr/>
        </p:nvSpPr>
        <p:spPr>
          <a:xfrm>
            <a:off x="1417320" y="4480560"/>
            <a:ext cx="10149840" cy="1564538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4" name="Google Shape;544;p36"/>
          <p:cNvSpPr txBox="1"/>
          <p:nvPr/>
        </p:nvSpPr>
        <p:spPr>
          <a:xfrm>
            <a:off x="1645920" y="4617720"/>
            <a:ext cx="978408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RAG is the standard for YOUR data</a:t>
            </a:r>
            <a:endParaRPr/>
          </a:p>
        </p:txBody>
      </p:sp>
      <p:sp>
        <p:nvSpPr>
          <p:cNvPr id="545" name="Google Shape;545;p36"/>
          <p:cNvSpPr txBox="1"/>
          <p:nvPr/>
        </p:nvSpPr>
        <p:spPr>
          <a:xfrm>
            <a:off x="1645920" y="5074920"/>
            <a:ext cx="978408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Retrieve, augment, generate. Don't expect the LLM to know your catalogue — give it the catalogue.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Guard against hallucination with strict system prompts.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3" name="Google Shape;553;p37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Method Cheat Sheet</a:t>
            </a:r>
            <a:endParaRPr/>
          </a:p>
        </p:txBody>
      </p:sp>
      <p:sp>
        <p:nvSpPr>
          <p:cNvPr id="554" name="Google Shape;554;p37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GenAI tools in production</a:t>
            </a:r>
            <a:endParaRPr/>
          </a:p>
        </p:txBody>
      </p:sp>
      <p:sp>
        <p:nvSpPr>
          <p:cNvPr id="555" name="Google Shape;555;p37"/>
          <p:cNvSpPr/>
          <p:nvPr/>
        </p:nvSpPr>
        <p:spPr>
          <a:xfrm>
            <a:off x="548640" y="169164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6" name="Google Shape;556;p37"/>
          <p:cNvSpPr txBox="1"/>
          <p:nvPr/>
        </p:nvSpPr>
        <p:spPr>
          <a:xfrm>
            <a:off x="777240" y="173736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Scenario</a:t>
            </a:r>
            <a:endParaRPr/>
          </a:p>
        </p:txBody>
      </p:sp>
      <p:sp>
        <p:nvSpPr>
          <p:cNvPr id="557" name="Google Shape;557;p37"/>
          <p:cNvSpPr txBox="1"/>
          <p:nvPr/>
        </p:nvSpPr>
        <p:spPr>
          <a:xfrm>
            <a:off x="6217920" y="173736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endParaRPr/>
          </a:p>
        </p:txBody>
      </p:sp>
      <p:sp>
        <p:nvSpPr>
          <p:cNvPr id="558" name="Google Shape;558;p37"/>
          <p:cNvSpPr/>
          <p:nvPr/>
        </p:nvSpPr>
        <p:spPr>
          <a:xfrm>
            <a:off x="548640" y="224028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9" name="Google Shape;559;p37"/>
          <p:cNvSpPr txBox="1"/>
          <p:nvPr/>
        </p:nvSpPr>
        <p:spPr>
          <a:xfrm>
            <a:off x="777240" y="228600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Sentiment / NER / classification</a:t>
            </a:r>
            <a:endParaRPr/>
          </a:p>
        </p:txBody>
      </p:sp>
      <p:sp>
        <p:nvSpPr>
          <p:cNvPr id="560" name="Google Shape;560;p37"/>
          <p:cNvSpPr txBox="1"/>
          <p:nvPr/>
        </p:nvSpPr>
        <p:spPr>
          <a:xfrm>
            <a:off x="6217920" y="228600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Pretrained pipeline (transformers.pipeline)</a:t>
            </a:r>
            <a:endParaRPr/>
          </a:p>
        </p:txBody>
      </p:sp>
      <p:sp>
        <p:nvSpPr>
          <p:cNvPr id="561" name="Google Shape;561;p37"/>
          <p:cNvSpPr/>
          <p:nvPr/>
        </p:nvSpPr>
        <p:spPr>
          <a:xfrm>
            <a:off x="548640" y="274320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2" name="Google Shape;562;p37"/>
          <p:cNvSpPr txBox="1"/>
          <p:nvPr/>
        </p:nvSpPr>
        <p:spPr>
          <a:xfrm>
            <a:off x="777240" y="278892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Chat / Q&amp;A about your data</a:t>
            </a:r>
            <a:endParaRPr/>
          </a:p>
        </p:txBody>
      </p:sp>
      <p:sp>
        <p:nvSpPr>
          <p:cNvPr id="563" name="Google Shape;563;p37"/>
          <p:cNvSpPr txBox="1"/>
          <p:nvPr/>
        </p:nvSpPr>
        <p:spPr>
          <a:xfrm>
            <a:off x="6217920" y="278892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RAG: embedding retrieval + LLM generation</a:t>
            </a:r>
            <a:endParaRPr/>
          </a:p>
        </p:txBody>
      </p:sp>
      <p:sp>
        <p:nvSpPr>
          <p:cNvPr id="564" name="Google Shape;564;p37"/>
          <p:cNvSpPr/>
          <p:nvPr/>
        </p:nvSpPr>
        <p:spPr>
          <a:xfrm>
            <a:off x="548640" y="324612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37"/>
          <p:cNvSpPr txBox="1"/>
          <p:nvPr/>
        </p:nvSpPr>
        <p:spPr>
          <a:xfrm>
            <a:off x="777240" y="329184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Highly specific domain (medical, legal)</a:t>
            </a:r>
            <a:endParaRPr/>
          </a:p>
        </p:txBody>
      </p:sp>
      <p:sp>
        <p:nvSpPr>
          <p:cNvPr id="566" name="Google Shape;566;p37"/>
          <p:cNvSpPr txBox="1"/>
          <p:nvPr/>
        </p:nvSpPr>
        <p:spPr>
          <a:xfrm>
            <a:off x="6217920" y="329184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Start with RAG; fine-tune if quality insufficient</a:t>
            </a:r>
            <a:endParaRPr/>
          </a:p>
        </p:txBody>
      </p:sp>
      <p:sp>
        <p:nvSpPr>
          <p:cNvPr id="567" name="Google Shape;567;p37"/>
          <p:cNvSpPr/>
          <p:nvPr/>
        </p:nvSpPr>
        <p:spPr>
          <a:xfrm>
            <a:off x="548640" y="374904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8" name="Google Shape;568;p37"/>
          <p:cNvSpPr txBox="1"/>
          <p:nvPr/>
        </p:nvSpPr>
        <p:spPr>
          <a:xfrm>
            <a:off x="777240" y="379476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Style transfer / brand voice</a:t>
            </a:r>
            <a:endParaRPr/>
          </a:p>
        </p:txBody>
      </p:sp>
      <p:sp>
        <p:nvSpPr>
          <p:cNvPr id="569" name="Google Shape;569;p37"/>
          <p:cNvSpPr txBox="1"/>
          <p:nvPr/>
        </p:nvSpPr>
        <p:spPr>
          <a:xfrm>
            <a:off x="6217920" y="379476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Fine-tune a small base model on examples</a:t>
            </a:r>
            <a:endParaRPr/>
          </a:p>
        </p:txBody>
      </p:sp>
      <p:sp>
        <p:nvSpPr>
          <p:cNvPr id="570" name="Google Shape;570;p37"/>
          <p:cNvSpPr/>
          <p:nvPr/>
        </p:nvSpPr>
        <p:spPr>
          <a:xfrm>
            <a:off x="548640" y="425196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1" name="Google Shape;571;p37"/>
          <p:cNvSpPr txBox="1"/>
          <p:nvPr/>
        </p:nvSpPr>
        <p:spPr>
          <a:xfrm>
            <a:off x="777240" y="429768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Experimental / one-off</a:t>
            </a:r>
            <a:endParaRPr/>
          </a:p>
        </p:txBody>
      </p:sp>
      <p:sp>
        <p:nvSpPr>
          <p:cNvPr id="572" name="Google Shape;572;p37"/>
          <p:cNvSpPr txBox="1"/>
          <p:nvPr/>
        </p:nvSpPr>
        <p:spPr>
          <a:xfrm>
            <a:off x="6217920" y="429768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Hosted API (Claude, GPT). Pay-per-use.</a:t>
            </a:r>
            <a:endParaRPr/>
          </a:p>
        </p:txBody>
      </p:sp>
      <p:sp>
        <p:nvSpPr>
          <p:cNvPr id="573" name="Google Shape;573;p37"/>
          <p:cNvSpPr/>
          <p:nvPr/>
        </p:nvSpPr>
        <p:spPr>
          <a:xfrm>
            <a:off x="548640" y="4754880"/>
            <a:ext cx="11064240" cy="5394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4" name="Google Shape;574;p37"/>
          <p:cNvSpPr txBox="1"/>
          <p:nvPr/>
        </p:nvSpPr>
        <p:spPr>
          <a:xfrm>
            <a:off x="777240" y="480060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Cost-sensitive / high volume</a:t>
            </a:r>
            <a:endParaRPr/>
          </a:p>
        </p:txBody>
      </p:sp>
      <p:sp>
        <p:nvSpPr>
          <p:cNvPr id="575" name="Google Shape;575;p37"/>
          <p:cNvSpPr txBox="1"/>
          <p:nvPr/>
        </p:nvSpPr>
        <p:spPr>
          <a:xfrm>
            <a:off x="6217920" y="480060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Self-hosted small model or fine-tuned own</a:t>
            </a:r>
            <a:endParaRPr/>
          </a:p>
        </p:txBody>
      </p:sp>
      <p:sp>
        <p:nvSpPr>
          <p:cNvPr id="576" name="Google Shape;576;p37"/>
          <p:cNvSpPr/>
          <p:nvPr/>
        </p:nvSpPr>
        <p:spPr>
          <a:xfrm>
            <a:off x="548640" y="5257800"/>
            <a:ext cx="11064240" cy="539496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37"/>
          <p:cNvSpPr txBox="1"/>
          <p:nvPr/>
        </p:nvSpPr>
        <p:spPr>
          <a:xfrm>
            <a:off x="777240" y="530352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Safety-critical</a:t>
            </a:r>
            <a:endParaRPr/>
          </a:p>
        </p:txBody>
      </p:sp>
      <p:sp>
        <p:nvSpPr>
          <p:cNvPr id="578" name="Google Shape;578;p37"/>
          <p:cNvSpPr txBox="1"/>
          <p:nvPr/>
        </p:nvSpPr>
        <p:spPr>
          <a:xfrm>
            <a:off x="6217920" y="5303520"/>
            <a:ext cx="5486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Human-in-the-loop. LLMs hallucinate.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8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6" name="Google Shape;586;p38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Common Pitfalls</a:t>
            </a:r>
            <a:endParaRPr/>
          </a:p>
        </p:txBody>
      </p:sp>
      <p:sp>
        <p:nvSpPr>
          <p:cNvPr id="587" name="Google Shape;587;p38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goes wrong in production GenAI</a:t>
            </a:r>
            <a:endParaRPr/>
          </a:p>
        </p:txBody>
      </p:sp>
      <p:sp>
        <p:nvSpPr>
          <p:cNvPr id="588" name="Google Shape;588;p38"/>
          <p:cNvSpPr/>
          <p:nvPr/>
        </p:nvSpPr>
        <p:spPr>
          <a:xfrm>
            <a:off x="548640" y="1691640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9" name="Google Shape;589;p38"/>
          <p:cNvSpPr txBox="1"/>
          <p:nvPr/>
        </p:nvSpPr>
        <p:spPr>
          <a:xfrm>
            <a:off x="548640" y="1783080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/>
          </a:p>
        </p:txBody>
      </p:sp>
      <p:sp>
        <p:nvSpPr>
          <p:cNvPr id="590" name="Google Shape;590;p38"/>
          <p:cNvSpPr txBox="1"/>
          <p:nvPr/>
        </p:nvSpPr>
        <p:spPr>
          <a:xfrm>
            <a:off x="1188720" y="1737360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Trusting the LLM blindly</a:t>
            </a:r>
            <a:endParaRPr/>
          </a:p>
        </p:txBody>
      </p:sp>
      <p:sp>
        <p:nvSpPr>
          <p:cNvPr id="591" name="Google Shape;591;p38"/>
          <p:cNvSpPr txBox="1"/>
          <p:nvPr/>
        </p:nvSpPr>
        <p:spPr>
          <a:xfrm>
            <a:off x="1188720" y="2011680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It will hallucinate confidently. Always validate against ground truth.</a:t>
            </a:r>
            <a:endParaRPr/>
          </a:p>
        </p:txBody>
      </p:sp>
      <p:sp>
        <p:nvSpPr>
          <p:cNvPr id="592" name="Google Shape;592;p38"/>
          <p:cNvSpPr/>
          <p:nvPr/>
        </p:nvSpPr>
        <p:spPr>
          <a:xfrm>
            <a:off x="548640" y="2377440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3" name="Google Shape;593;p38"/>
          <p:cNvSpPr txBox="1"/>
          <p:nvPr/>
        </p:nvSpPr>
        <p:spPr>
          <a:xfrm>
            <a:off x="548640" y="2468880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  <a:endParaRPr/>
          </a:p>
        </p:txBody>
      </p:sp>
      <p:sp>
        <p:nvSpPr>
          <p:cNvPr id="594" name="Google Shape;594;p38"/>
          <p:cNvSpPr txBox="1"/>
          <p:nvPr/>
        </p:nvSpPr>
        <p:spPr>
          <a:xfrm>
            <a:off x="1188720" y="2423160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Hand-rolling chat formats</a:t>
            </a:r>
            <a:endParaRPr/>
          </a:p>
        </p:txBody>
      </p:sp>
      <p:sp>
        <p:nvSpPr>
          <p:cNvPr id="595" name="Google Shape;595;p38"/>
          <p:cNvSpPr txBox="1"/>
          <p:nvPr/>
        </p:nvSpPr>
        <p:spPr>
          <a:xfrm>
            <a:off x="1188720" y="2697480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Use tokenizer.apply_chat_template(). Wrong format = garbage output.</a:t>
            </a:r>
            <a:endParaRPr/>
          </a:p>
        </p:txBody>
      </p:sp>
      <p:sp>
        <p:nvSpPr>
          <p:cNvPr id="596" name="Google Shape;596;p38"/>
          <p:cNvSpPr/>
          <p:nvPr/>
        </p:nvSpPr>
        <p:spPr>
          <a:xfrm>
            <a:off x="548640" y="3063240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7" name="Google Shape;597;p38"/>
          <p:cNvSpPr txBox="1"/>
          <p:nvPr/>
        </p:nvSpPr>
        <p:spPr>
          <a:xfrm>
            <a:off x="548640" y="3154680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/>
          </a:p>
        </p:txBody>
      </p:sp>
      <p:sp>
        <p:nvSpPr>
          <p:cNvPr id="598" name="Google Shape;598;p38"/>
          <p:cNvSpPr txBox="1"/>
          <p:nvPr/>
        </p:nvSpPr>
        <p:spPr>
          <a:xfrm>
            <a:off x="1188720" y="3108960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Wrong temperature for the task</a:t>
            </a:r>
            <a:endParaRPr/>
          </a:p>
        </p:txBody>
      </p:sp>
      <p:sp>
        <p:nvSpPr>
          <p:cNvPr id="599" name="Google Shape;599;p38"/>
          <p:cNvSpPr txBox="1"/>
          <p:nvPr/>
        </p:nvSpPr>
        <p:spPr>
          <a:xfrm>
            <a:off x="1188720" y="3383280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T=0 for code/facts. T=0.7 for chat. T=1+ for creative writing.</a:t>
            </a:r>
            <a:endParaRPr/>
          </a:p>
        </p:txBody>
      </p:sp>
      <p:sp>
        <p:nvSpPr>
          <p:cNvPr id="600" name="Google Shape;600;p38"/>
          <p:cNvSpPr/>
          <p:nvPr/>
        </p:nvSpPr>
        <p:spPr>
          <a:xfrm>
            <a:off x="548640" y="3749039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1" name="Google Shape;601;p38"/>
          <p:cNvSpPr txBox="1"/>
          <p:nvPr/>
        </p:nvSpPr>
        <p:spPr>
          <a:xfrm>
            <a:off x="548640" y="3840479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  <a:endParaRPr/>
          </a:p>
        </p:txBody>
      </p:sp>
      <p:sp>
        <p:nvSpPr>
          <p:cNvPr id="602" name="Google Shape;602;p38"/>
          <p:cNvSpPr txBox="1"/>
          <p:nvPr/>
        </p:nvSpPr>
        <p:spPr>
          <a:xfrm>
            <a:off x="1188720" y="3794759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Skipping the system prompt</a:t>
            </a:r>
            <a:endParaRPr/>
          </a:p>
        </p:txBody>
      </p:sp>
      <p:sp>
        <p:nvSpPr>
          <p:cNvPr id="603" name="Google Shape;603;p38"/>
          <p:cNvSpPr txBox="1"/>
          <p:nvPr/>
        </p:nvSpPr>
        <p:spPr>
          <a:xfrm>
            <a:off x="1188720" y="4069079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System prompt sets behaviour. "Only use the catalogue below" prevents hallucinations.</a:t>
            </a:r>
            <a:endParaRPr/>
          </a:p>
        </p:txBody>
      </p:sp>
      <p:sp>
        <p:nvSpPr>
          <p:cNvPr id="604" name="Google Shape;604;p38"/>
          <p:cNvSpPr/>
          <p:nvPr/>
        </p:nvSpPr>
        <p:spPr>
          <a:xfrm>
            <a:off x="548640" y="4434840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5" name="Google Shape;605;p38"/>
          <p:cNvSpPr txBox="1"/>
          <p:nvPr/>
        </p:nvSpPr>
        <p:spPr>
          <a:xfrm>
            <a:off x="548640" y="4526280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  <a:endParaRPr/>
          </a:p>
        </p:txBody>
      </p:sp>
      <p:sp>
        <p:nvSpPr>
          <p:cNvPr id="606" name="Google Shape;606;p38"/>
          <p:cNvSpPr txBox="1"/>
          <p:nvPr/>
        </p:nvSpPr>
        <p:spPr>
          <a:xfrm>
            <a:off x="1188720" y="4480560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Fine-tuning prematurely</a:t>
            </a:r>
            <a:endParaRPr/>
          </a:p>
        </p:txBody>
      </p:sp>
      <p:sp>
        <p:nvSpPr>
          <p:cNvPr id="607" name="Google Shape;607;p38"/>
          <p:cNvSpPr txBox="1"/>
          <p:nvPr/>
        </p:nvSpPr>
        <p:spPr>
          <a:xfrm>
            <a:off x="1188720" y="4754880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Try prompt + few-shot + RAG first. Fine-tuning has high setup cost.</a:t>
            </a:r>
            <a:endParaRPr/>
          </a:p>
        </p:txBody>
      </p:sp>
      <p:sp>
        <p:nvSpPr>
          <p:cNvPr id="608" name="Google Shape;608;p38"/>
          <p:cNvSpPr/>
          <p:nvPr/>
        </p:nvSpPr>
        <p:spPr>
          <a:xfrm>
            <a:off x="548640" y="5120640"/>
            <a:ext cx="457200" cy="647395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9" name="Google Shape;609;p38"/>
          <p:cNvSpPr txBox="1"/>
          <p:nvPr/>
        </p:nvSpPr>
        <p:spPr>
          <a:xfrm>
            <a:off x="548640" y="5212080"/>
            <a:ext cx="457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/>
          </a:p>
        </p:txBody>
      </p:sp>
      <p:sp>
        <p:nvSpPr>
          <p:cNvPr id="610" name="Google Shape;610;p38"/>
          <p:cNvSpPr txBox="1"/>
          <p:nvPr/>
        </p:nvSpPr>
        <p:spPr>
          <a:xfrm>
            <a:off x="1188720" y="5166360"/>
            <a:ext cx="1042416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Ignoring evaluation</a:t>
            </a:r>
            <a:endParaRPr/>
          </a:p>
        </p:txBody>
      </p:sp>
      <p:sp>
        <p:nvSpPr>
          <p:cNvPr id="611" name="Google Shape;611;p38"/>
          <p:cNvSpPr txBox="1"/>
          <p:nvPr/>
        </p:nvSpPr>
        <p:spPr>
          <a:xfrm>
            <a:off x="1188720" y="5440680"/>
            <a:ext cx="1042416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Run a hand-graded benchmark weekly. Quality drifts; you won't notice without measurement.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8" name="Google Shape;618;p39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9" name="Google Shape;619;p39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Module 3 — The Toolkit You've Built</a:t>
            </a:r>
            <a:endParaRPr/>
          </a:p>
        </p:txBody>
      </p:sp>
      <p:sp>
        <p:nvSpPr>
          <p:cNvPr id="620" name="Google Shape;620;p39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Nine lessons, one journey</a:t>
            </a:r>
            <a:endParaRPr/>
          </a:p>
        </p:txBody>
      </p:sp>
      <p:sp>
        <p:nvSpPr>
          <p:cNvPr id="621" name="Google Shape;621;p39"/>
          <p:cNvSpPr/>
          <p:nvPr/>
        </p:nvSpPr>
        <p:spPr>
          <a:xfrm>
            <a:off x="548640" y="16916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2" name="Google Shape;622;p39"/>
          <p:cNvSpPr txBox="1"/>
          <p:nvPr/>
        </p:nvSpPr>
        <p:spPr>
          <a:xfrm>
            <a:off x="548640" y="17373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L01-L02</a:t>
            </a:r>
            <a:endParaRPr/>
          </a:p>
        </p:txBody>
      </p:sp>
      <p:sp>
        <p:nvSpPr>
          <p:cNvPr id="623" name="Google Shape;623;p39"/>
          <p:cNvSpPr txBox="1"/>
          <p:nvPr/>
        </p:nvSpPr>
        <p:spPr>
          <a:xfrm>
            <a:off x="1828800" y="17373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Classical ML</a:t>
            </a:r>
            <a:endParaRPr/>
          </a:p>
        </p:txBody>
      </p:sp>
      <p:sp>
        <p:nvSpPr>
          <p:cNvPr id="624" name="Google Shape;624;p39"/>
          <p:cNvSpPr txBox="1"/>
          <p:nvPr/>
        </p:nvSpPr>
        <p:spPr>
          <a:xfrm>
            <a:off x="6126480" y="17373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LR, classification metrics, model evaluation</a:t>
            </a:r>
            <a:endParaRPr/>
          </a:p>
        </p:txBody>
      </p:sp>
      <p:sp>
        <p:nvSpPr>
          <p:cNvPr id="625" name="Google Shape;625;p39"/>
          <p:cNvSpPr/>
          <p:nvPr/>
        </p:nvSpPr>
        <p:spPr>
          <a:xfrm>
            <a:off x="548640" y="21488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6" name="Google Shape;626;p39"/>
          <p:cNvSpPr txBox="1"/>
          <p:nvPr/>
        </p:nvSpPr>
        <p:spPr>
          <a:xfrm>
            <a:off x="548640" y="21945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L03</a:t>
            </a:r>
            <a:endParaRPr/>
          </a:p>
        </p:txBody>
      </p:sp>
      <p:sp>
        <p:nvSpPr>
          <p:cNvPr id="627" name="Google Shape;627;p39"/>
          <p:cNvSpPr txBox="1"/>
          <p:nvPr/>
        </p:nvSpPr>
        <p:spPr>
          <a:xfrm>
            <a:off x="1828800" y="21945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Making it work</a:t>
            </a:r>
            <a:endParaRPr/>
          </a:p>
        </p:txBody>
      </p:sp>
      <p:sp>
        <p:nvSpPr>
          <p:cNvPr id="628" name="Google Shape;628;p39"/>
          <p:cNvSpPr txBox="1"/>
          <p:nvPr/>
        </p:nvSpPr>
        <p:spPr>
          <a:xfrm>
            <a:off x="6126480" y="21945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Pipelines, calibration, threshold tuning, fairness</a:t>
            </a:r>
            <a:endParaRPr/>
          </a:p>
        </p:txBody>
      </p:sp>
      <p:sp>
        <p:nvSpPr>
          <p:cNvPr id="629" name="Google Shape;629;p39"/>
          <p:cNvSpPr/>
          <p:nvPr/>
        </p:nvSpPr>
        <p:spPr>
          <a:xfrm>
            <a:off x="548640" y="26060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0" name="Google Shape;630;p39"/>
          <p:cNvSpPr txBox="1"/>
          <p:nvPr/>
        </p:nvSpPr>
        <p:spPr>
          <a:xfrm>
            <a:off x="548640" y="26517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L04</a:t>
            </a:r>
            <a:endParaRPr/>
          </a:p>
        </p:txBody>
      </p:sp>
      <p:sp>
        <p:nvSpPr>
          <p:cNvPr id="631" name="Google Shape;631;p39"/>
          <p:cNvSpPr txBox="1"/>
          <p:nvPr/>
        </p:nvSpPr>
        <p:spPr>
          <a:xfrm>
            <a:off x="1828800" y="26517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Trees + tuning</a:t>
            </a:r>
            <a:endParaRPr/>
          </a:p>
        </p:txBody>
      </p:sp>
      <p:sp>
        <p:nvSpPr>
          <p:cNvPr id="632" name="Google Shape;632;p39"/>
          <p:cNvSpPr txBox="1"/>
          <p:nvPr/>
        </p:nvSpPr>
        <p:spPr>
          <a:xfrm>
            <a:off x="6126480" y="26517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Gradient boosting, hyperparameter search</a:t>
            </a:r>
            <a:endParaRPr/>
          </a:p>
        </p:txBody>
      </p:sp>
      <p:sp>
        <p:nvSpPr>
          <p:cNvPr id="633" name="Google Shape;633;p39"/>
          <p:cNvSpPr/>
          <p:nvPr/>
        </p:nvSpPr>
        <p:spPr>
          <a:xfrm>
            <a:off x="548640" y="30632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4" name="Google Shape;634;p39"/>
          <p:cNvSpPr txBox="1"/>
          <p:nvPr/>
        </p:nvSpPr>
        <p:spPr>
          <a:xfrm>
            <a:off x="548640" y="31089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L05</a:t>
            </a:r>
            <a:endParaRPr/>
          </a:p>
        </p:txBody>
      </p:sp>
      <p:sp>
        <p:nvSpPr>
          <p:cNvPr id="635" name="Google Shape;635;p39"/>
          <p:cNvSpPr txBox="1"/>
          <p:nvPr/>
        </p:nvSpPr>
        <p:spPr>
          <a:xfrm>
            <a:off x="1828800" y="31089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Unsupervised</a:t>
            </a:r>
            <a:endParaRPr/>
          </a:p>
        </p:txBody>
      </p:sp>
      <p:sp>
        <p:nvSpPr>
          <p:cNvPr id="636" name="Google Shape;636;p39"/>
          <p:cNvSpPr txBox="1"/>
          <p:nvPr/>
        </p:nvSpPr>
        <p:spPr>
          <a:xfrm>
            <a:off x="6126480" y="31089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Clustering, PCA, anomaly detection</a:t>
            </a:r>
            <a:endParaRPr/>
          </a:p>
        </p:txBody>
      </p:sp>
      <p:sp>
        <p:nvSpPr>
          <p:cNvPr id="637" name="Google Shape;637;p39"/>
          <p:cNvSpPr/>
          <p:nvPr/>
        </p:nvSpPr>
        <p:spPr>
          <a:xfrm>
            <a:off x="548640" y="35204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8" name="Google Shape;638;p39"/>
          <p:cNvSpPr txBox="1"/>
          <p:nvPr/>
        </p:nvSpPr>
        <p:spPr>
          <a:xfrm>
            <a:off x="548640" y="35661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L06</a:t>
            </a:r>
            <a:endParaRPr/>
          </a:p>
        </p:txBody>
      </p:sp>
      <p:sp>
        <p:nvSpPr>
          <p:cNvPr id="639" name="Google Shape;639;p39"/>
          <p:cNvSpPr txBox="1"/>
          <p:nvPr/>
        </p:nvSpPr>
        <p:spPr>
          <a:xfrm>
            <a:off x="1828800" y="35661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Time series</a:t>
            </a:r>
            <a:endParaRPr/>
          </a:p>
        </p:txBody>
      </p:sp>
      <p:sp>
        <p:nvSpPr>
          <p:cNvPr id="640" name="Google Shape;640;p39"/>
          <p:cNvSpPr txBox="1"/>
          <p:nvPr/>
        </p:nvSpPr>
        <p:spPr>
          <a:xfrm>
            <a:off x="6126480" y="35661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Forecasting, holiday effects, evaluation</a:t>
            </a:r>
            <a:endParaRPr/>
          </a:p>
        </p:txBody>
      </p:sp>
      <p:sp>
        <p:nvSpPr>
          <p:cNvPr id="641" name="Google Shape;641;p39"/>
          <p:cNvSpPr/>
          <p:nvPr/>
        </p:nvSpPr>
        <p:spPr>
          <a:xfrm>
            <a:off x="548640" y="3977639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2" name="Google Shape;642;p39"/>
          <p:cNvSpPr txBox="1"/>
          <p:nvPr/>
        </p:nvSpPr>
        <p:spPr>
          <a:xfrm>
            <a:off x="548640" y="4023359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L07</a:t>
            </a:r>
            <a:endParaRPr/>
          </a:p>
        </p:txBody>
      </p:sp>
      <p:sp>
        <p:nvSpPr>
          <p:cNvPr id="643" name="Google Shape;643;p39"/>
          <p:cNvSpPr txBox="1"/>
          <p:nvPr/>
        </p:nvSpPr>
        <p:spPr>
          <a:xfrm>
            <a:off x="1828800" y="4023359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Neural networks</a:t>
            </a:r>
            <a:endParaRPr/>
          </a:p>
        </p:txBody>
      </p:sp>
      <p:sp>
        <p:nvSpPr>
          <p:cNvPr id="644" name="Google Shape;644;p39"/>
          <p:cNvSpPr txBox="1"/>
          <p:nvPr/>
        </p:nvSpPr>
        <p:spPr>
          <a:xfrm>
            <a:off x="6126480" y="4023359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MLPs, PyTorch, the training loop</a:t>
            </a:r>
            <a:endParaRPr/>
          </a:p>
        </p:txBody>
      </p:sp>
      <p:sp>
        <p:nvSpPr>
          <p:cNvPr id="645" name="Google Shape;645;p39"/>
          <p:cNvSpPr/>
          <p:nvPr/>
        </p:nvSpPr>
        <p:spPr>
          <a:xfrm>
            <a:off x="548640" y="44348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6" name="Google Shape;646;p39"/>
          <p:cNvSpPr txBox="1"/>
          <p:nvPr/>
        </p:nvSpPr>
        <p:spPr>
          <a:xfrm>
            <a:off x="548640" y="44805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L08</a:t>
            </a:r>
            <a:endParaRPr/>
          </a:p>
        </p:txBody>
      </p:sp>
      <p:sp>
        <p:nvSpPr>
          <p:cNvPr id="647" name="Google Shape;647;p39"/>
          <p:cNvSpPr txBox="1"/>
          <p:nvPr/>
        </p:nvSpPr>
        <p:spPr>
          <a:xfrm>
            <a:off x="1828800" y="44805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Computer vision</a:t>
            </a:r>
            <a:endParaRPr/>
          </a:p>
        </p:txBody>
      </p:sp>
      <p:sp>
        <p:nvSpPr>
          <p:cNvPr id="648" name="Google Shape;648;p39"/>
          <p:cNvSpPr txBox="1"/>
          <p:nvPr/>
        </p:nvSpPr>
        <p:spPr>
          <a:xfrm>
            <a:off x="6126480" y="44805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CNNs, transfer learning, ResNet18</a:t>
            </a:r>
            <a:endParaRPr/>
          </a:p>
        </p:txBody>
      </p:sp>
      <p:sp>
        <p:nvSpPr>
          <p:cNvPr id="649" name="Google Shape;649;p39"/>
          <p:cNvSpPr/>
          <p:nvPr/>
        </p:nvSpPr>
        <p:spPr>
          <a:xfrm>
            <a:off x="548640" y="4892040"/>
            <a:ext cx="1097280" cy="48554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0" name="Google Shape;650;p39"/>
          <p:cNvSpPr txBox="1"/>
          <p:nvPr/>
        </p:nvSpPr>
        <p:spPr>
          <a:xfrm>
            <a:off x="548640" y="49377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L09</a:t>
            </a:r>
            <a:endParaRPr/>
          </a:p>
        </p:txBody>
      </p:sp>
      <p:sp>
        <p:nvSpPr>
          <p:cNvPr id="651" name="Google Shape;651;p39"/>
          <p:cNvSpPr txBox="1"/>
          <p:nvPr/>
        </p:nvSpPr>
        <p:spPr>
          <a:xfrm>
            <a:off x="1828800" y="49377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NLP &amp; embeddings</a:t>
            </a:r>
            <a:endParaRPr/>
          </a:p>
        </p:txBody>
      </p:sp>
      <p:sp>
        <p:nvSpPr>
          <p:cNvPr id="652" name="Google Shape;652;p39"/>
          <p:cNvSpPr txBox="1"/>
          <p:nvPr/>
        </p:nvSpPr>
        <p:spPr>
          <a:xfrm>
            <a:off x="6126480" y="49377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Semantic search, hybrid retrieval</a:t>
            </a:r>
            <a:endParaRPr/>
          </a:p>
        </p:txBody>
      </p:sp>
      <p:sp>
        <p:nvSpPr>
          <p:cNvPr id="653" name="Google Shape;653;p39"/>
          <p:cNvSpPr/>
          <p:nvPr/>
        </p:nvSpPr>
        <p:spPr>
          <a:xfrm>
            <a:off x="548640" y="5349240"/>
            <a:ext cx="1097280" cy="48554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4" name="Google Shape;654;p39"/>
          <p:cNvSpPr txBox="1"/>
          <p:nvPr/>
        </p:nvSpPr>
        <p:spPr>
          <a:xfrm>
            <a:off x="548640" y="5394960"/>
            <a:ext cx="109728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L10</a:t>
            </a:r>
            <a:endParaRPr/>
          </a:p>
        </p:txBody>
      </p:sp>
      <p:sp>
        <p:nvSpPr>
          <p:cNvPr id="655" name="Google Shape;655;p39"/>
          <p:cNvSpPr txBox="1"/>
          <p:nvPr/>
        </p:nvSpPr>
        <p:spPr>
          <a:xfrm>
            <a:off x="1828800" y="5394960"/>
            <a:ext cx="41148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Transformers &amp; GenAI</a:t>
            </a:r>
            <a:endParaRPr/>
          </a:p>
        </p:txBody>
      </p:sp>
      <p:sp>
        <p:nvSpPr>
          <p:cNvPr id="656" name="Google Shape;656;p39"/>
          <p:cNvSpPr txBox="1"/>
          <p:nvPr/>
        </p:nvSpPr>
        <p:spPr>
          <a:xfrm>
            <a:off x="6126480" y="5394960"/>
            <a:ext cx="5486400" cy="3776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Attention, LLMs, RAG</a:t>
            </a:r>
            <a:endParaRPr/>
          </a:p>
        </p:txBody>
      </p:sp>
      <p:sp>
        <p:nvSpPr>
          <p:cNvPr id="657" name="Google Shape;657;p39"/>
          <p:cNvSpPr txBox="1"/>
          <p:nvPr/>
        </p:nvSpPr>
        <p:spPr>
          <a:xfrm>
            <a:off x="548640" y="6000924"/>
            <a:ext cx="1106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You can ship classical ML, deep learning, semantic search, AND GenAI. End-to-end.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4" name="Google Shape;664;p4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5" name="Google Shape;665;p40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Sarah's Journey — And Yours</a:t>
            </a:r>
            <a:endParaRPr/>
          </a:p>
        </p:txBody>
      </p:sp>
      <p:sp>
        <p:nvSpPr>
          <p:cNvPr id="666" name="Google Shape;666;p40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What the narrative was teaching</a:t>
            </a:r>
            <a:endParaRPr/>
          </a:p>
        </p:txBody>
      </p:sp>
      <p:sp>
        <p:nvSpPr>
          <p:cNvPr id="667" name="Google Shape;667;p40"/>
          <p:cNvSpPr/>
          <p:nvPr/>
        </p:nvSpPr>
        <p:spPr>
          <a:xfrm>
            <a:off x="548650" y="1413150"/>
            <a:ext cx="11064300" cy="4861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8" name="Google Shape;668;p40"/>
          <p:cNvSpPr txBox="1"/>
          <p:nvPr/>
        </p:nvSpPr>
        <p:spPr>
          <a:xfrm>
            <a:off x="822960" y="169164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Each lesson was a tool. The story was about how to choose.</a:t>
            </a:r>
            <a:endParaRPr/>
          </a:p>
        </p:txBody>
      </p:sp>
      <p:sp>
        <p:nvSpPr>
          <p:cNvPr id="669" name="Google Shape;669;p40"/>
          <p:cNvSpPr txBox="1"/>
          <p:nvPr/>
        </p:nvSpPr>
        <p:spPr>
          <a:xfrm>
            <a:off x="822960" y="242316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L01-L03: ship the simplest model first; measure it; improve only what fails</a:t>
            </a:r>
            <a:endParaRPr/>
          </a:p>
        </p:txBody>
      </p:sp>
      <p:sp>
        <p:nvSpPr>
          <p:cNvPr id="670" name="Google Shape;670;p40"/>
          <p:cNvSpPr txBox="1"/>
          <p:nvPr/>
        </p:nvSpPr>
        <p:spPr>
          <a:xfrm>
            <a:off x="822960" y="297180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L04-L06: pick the tool for the data — trees for tabular, clustering for discovery, ARIMA for seasonal</a:t>
            </a:r>
            <a:endParaRPr/>
          </a:p>
        </p:txBody>
      </p:sp>
      <p:sp>
        <p:nvSpPr>
          <p:cNvPr id="671" name="Google Shape;671;p40"/>
          <p:cNvSpPr txBox="1"/>
          <p:nvPr/>
        </p:nvSpPr>
        <p:spPr>
          <a:xfrm>
            <a:off x="822960" y="3520439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L07-L08: the same training loop works for any architecture; the data and structure are what matter</a:t>
            </a:r>
            <a:endParaRPr/>
          </a:p>
        </p:txBody>
      </p:sp>
      <p:sp>
        <p:nvSpPr>
          <p:cNvPr id="672" name="Google Shape;672;p40"/>
          <p:cNvSpPr txBox="1"/>
          <p:nvPr/>
        </p:nvSpPr>
        <p:spPr>
          <a:xfrm>
            <a:off x="822960" y="4069079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L09: embeddings expose meaning as geometry; combine semantic with classical for production search</a:t>
            </a:r>
            <a:endParaRPr/>
          </a:p>
        </p:txBody>
      </p:sp>
      <p:sp>
        <p:nvSpPr>
          <p:cNvPr id="673" name="Google Shape;673;p40"/>
          <p:cNvSpPr txBox="1"/>
          <p:nvPr/>
        </p:nvSpPr>
        <p:spPr>
          <a:xfrm>
            <a:off x="822960" y="46177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▸ L10: GenAI is real but hallucinates; RAG keeps it grounded; you can ship without fine-tuning</a:t>
            </a:r>
            <a:endParaRPr/>
          </a:p>
        </p:txBody>
      </p:sp>
      <p:sp>
        <p:nvSpPr>
          <p:cNvPr id="674" name="Google Shape;674;p40"/>
          <p:cNvSpPr txBox="1"/>
          <p:nvPr/>
        </p:nvSpPr>
        <p:spPr>
          <a:xfrm>
            <a:off x="822960" y="5486400"/>
            <a:ext cx="1051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9900"/>
                </a:solidFill>
                <a:latin typeface="Open Sans"/>
                <a:ea typeface="Open Sans"/>
                <a:cs typeface="Open Sans"/>
                <a:sym typeface="Open Sans"/>
              </a:rPr>
              <a:t>The mathematics is the easy part. Picking the right tool is taste — and you've started developing it.</a:t>
            </a:r>
            <a:endParaRPr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4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1" name="Google Shape;681;p4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2" name="Google Shape;682;p41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What's Next</a:t>
            </a:r>
            <a:endParaRPr/>
          </a:p>
        </p:txBody>
      </p:sp>
      <p:sp>
        <p:nvSpPr>
          <p:cNvPr id="683" name="Google Shape;683;p41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Directions for further study</a:t>
            </a:r>
            <a:endParaRPr/>
          </a:p>
        </p:txBody>
      </p:sp>
      <p:sp>
        <p:nvSpPr>
          <p:cNvPr id="684" name="Google Shape;684;p41"/>
          <p:cNvSpPr/>
          <p:nvPr/>
        </p:nvSpPr>
        <p:spPr>
          <a:xfrm>
            <a:off x="364474" y="1600200"/>
            <a:ext cx="2744400" cy="1186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5" name="Google Shape;685;p41"/>
          <p:cNvSpPr txBox="1"/>
          <p:nvPr/>
        </p:nvSpPr>
        <p:spPr>
          <a:xfrm>
            <a:off x="456590" y="1909233"/>
            <a:ext cx="256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Domain specialisation</a:t>
            </a:r>
            <a:endParaRPr/>
          </a:p>
        </p:txBody>
      </p:sp>
      <p:sp>
        <p:nvSpPr>
          <p:cNvPr id="686" name="Google Shape;686;p41"/>
          <p:cNvSpPr/>
          <p:nvPr/>
        </p:nvSpPr>
        <p:spPr>
          <a:xfrm>
            <a:off x="3246120" y="1600200"/>
            <a:ext cx="8321040" cy="118689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7" name="Google Shape;687;p41"/>
          <p:cNvSpPr txBox="1"/>
          <p:nvPr/>
        </p:nvSpPr>
        <p:spPr>
          <a:xfrm>
            <a:off x="3474720" y="1783080"/>
            <a:ext cx="7955279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Pick a vertical — healthcare, finance, retail, NLP, vision — and go deep.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Become the person at your company who knows that area.</a:t>
            </a:r>
            <a:endParaRPr/>
          </a:p>
        </p:txBody>
      </p:sp>
      <p:sp>
        <p:nvSpPr>
          <p:cNvPr id="688" name="Google Shape;688;p41"/>
          <p:cNvSpPr/>
          <p:nvPr/>
        </p:nvSpPr>
        <p:spPr>
          <a:xfrm>
            <a:off x="364549" y="2743200"/>
            <a:ext cx="2744400" cy="1186800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9" name="Google Shape;689;p41"/>
          <p:cNvSpPr txBox="1"/>
          <p:nvPr/>
        </p:nvSpPr>
        <p:spPr>
          <a:xfrm>
            <a:off x="456590" y="3066845"/>
            <a:ext cx="256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MLOps &amp; evaluation</a:t>
            </a:r>
            <a:endParaRPr/>
          </a:p>
        </p:txBody>
      </p:sp>
      <p:sp>
        <p:nvSpPr>
          <p:cNvPr id="690" name="Google Shape;690;p41"/>
          <p:cNvSpPr/>
          <p:nvPr/>
        </p:nvSpPr>
        <p:spPr>
          <a:xfrm>
            <a:off x="3246120" y="2743200"/>
            <a:ext cx="8321040" cy="118689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1" name="Google Shape;691;p41"/>
          <p:cNvSpPr txBox="1"/>
          <p:nvPr/>
        </p:nvSpPr>
        <p:spPr>
          <a:xfrm>
            <a:off x="3474720" y="2926080"/>
            <a:ext cx="7955279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Shipping is one thing. Keeping a model working over months is harder.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Learn evaluation, monitoring, A/B testing, drift detection.</a:t>
            </a:r>
            <a:endParaRPr/>
          </a:p>
        </p:txBody>
      </p:sp>
      <p:sp>
        <p:nvSpPr>
          <p:cNvPr id="692" name="Google Shape;692;p41"/>
          <p:cNvSpPr/>
          <p:nvPr/>
        </p:nvSpPr>
        <p:spPr>
          <a:xfrm>
            <a:off x="364549" y="3886200"/>
            <a:ext cx="2744400" cy="11868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3" name="Google Shape;693;p41"/>
          <p:cNvSpPr txBox="1"/>
          <p:nvPr/>
        </p:nvSpPr>
        <p:spPr>
          <a:xfrm>
            <a:off x="456590" y="4209845"/>
            <a:ext cx="2560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Fine-tuning &amp; alignment</a:t>
            </a:r>
            <a:endParaRPr/>
          </a:p>
        </p:txBody>
      </p:sp>
      <p:sp>
        <p:nvSpPr>
          <p:cNvPr id="694" name="Google Shape;694;p41"/>
          <p:cNvSpPr/>
          <p:nvPr/>
        </p:nvSpPr>
        <p:spPr>
          <a:xfrm>
            <a:off x="3246120" y="3886200"/>
            <a:ext cx="8321040" cy="118689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5" name="Google Shape;695;p41"/>
          <p:cNvSpPr txBox="1"/>
          <p:nvPr/>
        </p:nvSpPr>
        <p:spPr>
          <a:xfrm>
            <a:off x="3474720" y="4069080"/>
            <a:ext cx="7955279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PEFT, LoRA, RLHF, DPO. How to bend pretrained models to your specific use case.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Mostly only worth learning when you have a real task that needs it.</a:t>
            </a:r>
            <a:endParaRPr/>
          </a:p>
        </p:txBody>
      </p:sp>
      <p:sp>
        <p:nvSpPr>
          <p:cNvPr id="696" name="Google Shape;696;p41"/>
          <p:cNvSpPr/>
          <p:nvPr/>
        </p:nvSpPr>
        <p:spPr>
          <a:xfrm>
            <a:off x="364549" y="5029200"/>
            <a:ext cx="2744400" cy="11868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7" name="Google Shape;697;p41"/>
          <p:cNvSpPr txBox="1"/>
          <p:nvPr/>
        </p:nvSpPr>
        <p:spPr>
          <a:xfrm>
            <a:off x="456565" y="5303520"/>
            <a:ext cx="2560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Read the papers</a:t>
            </a:r>
            <a:endParaRPr/>
          </a:p>
        </p:txBody>
      </p:sp>
      <p:sp>
        <p:nvSpPr>
          <p:cNvPr id="698" name="Google Shape;698;p41"/>
          <p:cNvSpPr/>
          <p:nvPr/>
        </p:nvSpPr>
        <p:spPr>
          <a:xfrm>
            <a:off x="3246120" y="5029200"/>
            <a:ext cx="8321040" cy="1186891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9" name="Google Shape;699;p41"/>
          <p:cNvSpPr txBox="1"/>
          <p:nvPr/>
        </p:nvSpPr>
        <p:spPr>
          <a:xfrm>
            <a:off x="3474720" y="5212080"/>
            <a:ext cx="7955279" cy="8631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Attention Is All You Need, BERT, GPT-2/3/4, CLIP, LLaMA, DPO.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Reading is faster than waiting for the next course.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6" name="Google Shape;706;p4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7" name="Google Shape;707;p42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Final Assignment</a:t>
            </a:r>
            <a:endParaRPr/>
          </a:p>
        </p:txBody>
      </p:sp>
      <p:sp>
        <p:nvSpPr>
          <p:cNvPr id="708" name="Google Shape;708;p42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Ship a RAG shopping assistant</a:t>
            </a:r>
            <a:endParaRPr/>
          </a:p>
        </p:txBody>
      </p:sp>
      <p:sp>
        <p:nvSpPr>
          <p:cNvPr id="709" name="Google Shape;709;p42"/>
          <p:cNvSpPr/>
          <p:nvPr/>
        </p:nvSpPr>
        <p:spPr>
          <a:xfrm>
            <a:off x="548640" y="1554480"/>
            <a:ext cx="11064240" cy="237378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0" name="Google Shape;710;p42"/>
          <p:cNvSpPr txBox="1"/>
          <p:nvPr/>
        </p:nvSpPr>
        <p:spPr>
          <a:xfrm>
            <a:off x="822960" y="16916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Assignment</a:t>
            </a:r>
            <a:endParaRPr/>
          </a:p>
        </p:txBody>
      </p:sp>
      <p:sp>
        <p:nvSpPr>
          <p:cNvPr id="711" name="Google Shape;711;p42"/>
          <p:cNvSpPr txBox="1"/>
          <p:nvPr/>
        </p:nvSpPr>
        <p:spPr>
          <a:xfrm>
            <a:off x="822960" y="2103120"/>
            <a:ext cx="10515600" cy="16184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Part A — Implement a RAGSystem class (retrieve + ask)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Part B — Run 5 customer-query benchmark; grade each on 3 criteria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 Part C — Identify two specific weaknesses + concrete fixes</a:t>
            </a:r>
            <a:endParaRPr/>
          </a:p>
        </p:txBody>
      </p:sp>
      <p:sp>
        <p:nvSpPr>
          <p:cNvPr id="712" name="Google Shape;712;p42"/>
          <p:cNvSpPr/>
          <p:nvPr/>
        </p:nvSpPr>
        <p:spPr>
          <a:xfrm>
            <a:off x="548640" y="3749039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3" name="Google Shape;713;p42"/>
          <p:cNvSpPr txBox="1"/>
          <p:nvPr/>
        </p:nvSpPr>
        <p:spPr>
          <a:xfrm>
            <a:off x="822960" y="37947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Optional self-study</a:t>
            </a:r>
            <a:endParaRPr/>
          </a:p>
        </p:txBody>
      </p:sp>
      <p:sp>
        <p:nvSpPr>
          <p:cNvPr id="714" name="Google Shape;714;p42"/>
          <p:cNvSpPr txBox="1"/>
          <p:nvPr/>
        </p:nvSpPr>
        <p:spPr>
          <a:xfrm>
            <a:off x="822960" y="434340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optional_extensions.ipynb — prompt engineering, sampling deep-dive, decision tree</a:t>
            </a:r>
            <a:endParaRPr/>
          </a:p>
        </p:txBody>
      </p:sp>
      <p:sp>
        <p:nvSpPr>
          <p:cNvPr id="715" name="Google Shape;715;p42"/>
          <p:cNvSpPr txBox="1"/>
          <p:nvPr/>
        </p:nvSpPr>
        <p:spPr>
          <a:xfrm>
            <a:off x="822960" y="475488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Try a hosted API (Claude / OpenAI) in place of SmolLM2 — compare quality</a:t>
            </a:r>
            <a:endParaRPr/>
          </a:p>
        </p:txBody>
      </p:sp>
      <p:sp>
        <p:nvSpPr>
          <p:cNvPr id="716" name="Google Shape;716;p42"/>
          <p:cNvSpPr txBox="1"/>
          <p:nvPr/>
        </p:nvSpPr>
        <p:spPr>
          <a:xfrm>
            <a:off x="822960" y="516636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▸ Add the hallucination-check pattern from NB 04 Extensions</a:t>
            </a:r>
            <a:endParaRPr/>
          </a:p>
        </p:txBody>
      </p:sp>
      <p:sp>
        <p:nvSpPr>
          <p:cNvPr id="717" name="Google Shape;717;p42"/>
          <p:cNvSpPr/>
          <p:nvPr/>
        </p:nvSpPr>
        <p:spPr>
          <a:xfrm>
            <a:off x="548640" y="5760720"/>
            <a:ext cx="11064240" cy="539496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18" name="Google Shape;718;p42"/>
          <p:cNvSpPr txBox="1"/>
          <p:nvPr/>
        </p:nvSpPr>
        <p:spPr>
          <a:xfrm>
            <a:off x="822960" y="58064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is the LAST assignment of the module. Submit by end of next week.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6" name="Google Shape;726;p43"/>
          <p:cNvSpPr txBox="1"/>
          <p:nvPr/>
        </p:nvSpPr>
        <p:spPr>
          <a:xfrm>
            <a:off x="548640" y="320040"/>
            <a:ext cx="10972800" cy="971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Resources To Keep Building</a:t>
            </a:r>
            <a:endParaRPr/>
          </a:p>
        </p:txBody>
      </p:sp>
      <p:sp>
        <p:nvSpPr>
          <p:cNvPr id="727" name="Google Shape;727;p43"/>
          <p:cNvSpPr txBox="1"/>
          <p:nvPr/>
        </p:nvSpPr>
        <p:spPr>
          <a:xfrm>
            <a:off x="548640" y="868680"/>
            <a:ext cx="109728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Books, papers, communities, courses</a:t>
            </a:r>
            <a:endParaRPr/>
          </a:p>
        </p:txBody>
      </p:sp>
      <p:sp>
        <p:nvSpPr>
          <p:cNvPr id="728" name="Google Shape;728;p43"/>
          <p:cNvSpPr/>
          <p:nvPr/>
        </p:nvSpPr>
        <p:spPr>
          <a:xfrm>
            <a:off x="548640" y="1691640"/>
            <a:ext cx="11064240" cy="539496"/>
          </a:xfrm>
          <a:prstGeom prst="rect">
            <a:avLst/>
          </a:prstGeom>
          <a:solidFill>
            <a:srgbClr val="2C56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9" name="Google Shape;729;p43"/>
          <p:cNvSpPr txBox="1"/>
          <p:nvPr/>
        </p:nvSpPr>
        <p:spPr>
          <a:xfrm>
            <a:off x="777240" y="17373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Type</a:t>
            </a:r>
            <a:endParaRPr/>
          </a:p>
        </p:txBody>
      </p:sp>
      <p:sp>
        <p:nvSpPr>
          <p:cNvPr id="730" name="Google Shape;730;p43"/>
          <p:cNvSpPr txBox="1"/>
          <p:nvPr/>
        </p:nvSpPr>
        <p:spPr>
          <a:xfrm>
            <a:off x="3657600" y="173736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Recommendation</a:t>
            </a:r>
            <a:endParaRPr/>
          </a:p>
        </p:txBody>
      </p:sp>
      <p:sp>
        <p:nvSpPr>
          <p:cNvPr id="731" name="Google Shape;731;p43"/>
          <p:cNvSpPr/>
          <p:nvPr/>
        </p:nvSpPr>
        <p:spPr>
          <a:xfrm>
            <a:off x="548640" y="228600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2" name="Google Shape;732;p43"/>
          <p:cNvSpPr txBox="1"/>
          <p:nvPr/>
        </p:nvSpPr>
        <p:spPr>
          <a:xfrm>
            <a:off x="777240" y="237744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Books</a:t>
            </a:r>
            <a:endParaRPr/>
          </a:p>
        </p:txBody>
      </p:sp>
      <p:sp>
        <p:nvSpPr>
          <p:cNvPr id="733" name="Google Shape;733;p43"/>
          <p:cNvSpPr txBox="1"/>
          <p:nvPr/>
        </p:nvSpPr>
        <p:spPr>
          <a:xfrm>
            <a:off x="3657600" y="237744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Murphy, Bishop, Hastie/Tibshirani (classical); Goodfellow, Bishop (DL); HF book</a:t>
            </a:r>
            <a:endParaRPr/>
          </a:p>
        </p:txBody>
      </p:sp>
      <p:sp>
        <p:nvSpPr>
          <p:cNvPr id="734" name="Google Shape;734;p43"/>
          <p:cNvSpPr/>
          <p:nvPr/>
        </p:nvSpPr>
        <p:spPr>
          <a:xfrm>
            <a:off x="548640" y="2880360"/>
            <a:ext cx="11064240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5" name="Google Shape;735;p43"/>
          <p:cNvSpPr txBox="1"/>
          <p:nvPr/>
        </p:nvSpPr>
        <p:spPr>
          <a:xfrm>
            <a:off x="777240" y="297180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Papers</a:t>
            </a:r>
            <a:endParaRPr/>
          </a:p>
        </p:txBody>
      </p:sp>
      <p:sp>
        <p:nvSpPr>
          <p:cNvPr id="736" name="Google Shape;736;p43"/>
          <p:cNvSpPr txBox="1"/>
          <p:nvPr/>
        </p:nvSpPr>
        <p:spPr>
          <a:xfrm>
            <a:off x="3657600" y="297180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arxiv.org/list/cs.LG — Karpathy's reading list; Yannic Kilcher's YouTube</a:t>
            </a:r>
            <a:endParaRPr/>
          </a:p>
        </p:txBody>
      </p:sp>
      <p:sp>
        <p:nvSpPr>
          <p:cNvPr id="737" name="Google Shape;737;p43"/>
          <p:cNvSpPr/>
          <p:nvPr/>
        </p:nvSpPr>
        <p:spPr>
          <a:xfrm>
            <a:off x="548640" y="347472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8" name="Google Shape;738;p43"/>
          <p:cNvSpPr txBox="1"/>
          <p:nvPr/>
        </p:nvSpPr>
        <p:spPr>
          <a:xfrm>
            <a:off x="777240" y="356616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Courses</a:t>
            </a:r>
            <a:endParaRPr/>
          </a:p>
        </p:txBody>
      </p:sp>
      <p:sp>
        <p:nvSpPr>
          <p:cNvPr id="739" name="Google Shape;739;p43"/>
          <p:cNvSpPr txBox="1"/>
          <p:nvPr/>
        </p:nvSpPr>
        <p:spPr>
          <a:xfrm>
            <a:off x="3657600" y="356616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Fast.ai (practical DL); DeepLearning.AI; Stanford CS224N (NLP), CS231N (CV)</a:t>
            </a:r>
            <a:endParaRPr/>
          </a:p>
        </p:txBody>
      </p:sp>
      <p:sp>
        <p:nvSpPr>
          <p:cNvPr id="740" name="Google Shape;740;p43"/>
          <p:cNvSpPr/>
          <p:nvPr/>
        </p:nvSpPr>
        <p:spPr>
          <a:xfrm>
            <a:off x="548640" y="4069080"/>
            <a:ext cx="11064240" cy="64739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43"/>
          <p:cNvSpPr txBox="1"/>
          <p:nvPr/>
        </p:nvSpPr>
        <p:spPr>
          <a:xfrm>
            <a:off x="777240" y="416052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Communities</a:t>
            </a:r>
            <a:endParaRPr/>
          </a:p>
        </p:txBody>
      </p:sp>
      <p:sp>
        <p:nvSpPr>
          <p:cNvPr id="742" name="Google Shape;742;p43"/>
          <p:cNvSpPr txBox="1"/>
          <p:nvPr/>
        </p:nvSpPr>
        <p:spPr>
          <a:xfrm>
            <a:off x="3657600" y="416052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r/MachineLearning; HuggingFace forums; Kaggle competitions; arxiv-sanity</a:t>
            </a:r>
            <a:endParaRPr/>
          </a:p>
        </p:txBody>
      </p:sp>
      <p:sp>
        <p:nvSpPr>
          <p:cNvPr id="743" name="Google Shape;743;p43"/>
          <p:cNvSpPr/>
          <p:nvPr/>
        </p:nvSpPr>
        <p:spPr>
          <a:xfrm>
            <a:off x="548640" y="4663440"/>
            <a:ext cx="11064240" cy="647395"/>
          </a:xfrm>
          <a:prstGeom prst="rect">
            <a:avLst/>
          </a:prstGeom>
          <a:solidFill>
            <a:srgbClr val="F4F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4" name="Google Shape;744;p43"/>
          <p:cNvSpPr txBox="1"/>
          <p:nvPr/>
        </p:nvSpPr>
        <p:spPr>
          <a:xfrm>
            <a:off x="777240" y="4754880"/>
            <a:ext cx="27432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1B2A4A"/>
                </a:solidFill>
                <a:latin typeface="Open Sans"/>
                <a:ea typeface="Open Sans"/>
                <a:cs typeface="Open Sans"/>
                <a:sym typeface="Open Sans"/>
              </a:rPr>
              <a:t>Build</a:t>
            </a:r>
            <a:endParaRPr/>
          </a:p>
        </p:txBody>
      </p:sp>
      <p:sp>
        <p:nvSpPr>
          <p:cNvPr id="745" name="Google Shape;745;p43"/>
          <p:cNvSpPr txBox="1"/>
          <p:nvPr/>
        </p:nvSpPr>
        <p:spPr>
          <a:xfrm>
            <a:off x="3657600" y="4754880"/>
            <a:ext cx="77724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3D4D"/>
                </a:solidFill>
                <a:latin typeface="Open Sans"/>
                <a:ea typeface="Open Sans"/>
                <a:cs typeface="Open Sans"/>
                <a:sym typeface="Open Sans"/>
              </a:rPr>
              <a:t>Spend more time shipping than studying. Build something every week.</a:t>
            </a:r>
            <a:endParaRPr/>
          </a:p>
        </p:txBody>
      </p:sp>
      <p:sp>
        <p:nvSpPr>
          <p:cNvPr id="746" name="Google Shape;746;p43"/>
          <p:cNvSpPr/>
          <p:nvPr/>
        </p:nvSpPr>
        <p:spPr>
          <a:xfrm>
            <a:off x="548640" y="5486400"/>
            <a:ext cx="11064240" cy="647395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7" name="Google Shape;747;p43"/>
          <p:cNvSpPr txBox="1"/>
          <p:nvPr/>
        </p:nvSpPr>
        <p:spPr>
          <a:xfrm>
            <a:off x="822960" y="5577840"/>
            <a:ext cx="10515600" cy="4315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If you only do ONE thing: build a side project. Anything. Ship it. Then iterate.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cap="flat" cmpd="sng" w="12700">
            <a:solidFill>
              <a:srgbClr val="C810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4" name="Google Shape;754;p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5" name="Google Shape;755;p44"/>
          <p:cNvSpPr/>
          <p:nvPr/>
        </p:nvSpPr>
        <p:spPr>
          <a:xfrm>
            <a:off x="0" y="5943600"/>
            <a:ext cx="12191695" cy="10789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6" name="Google Shape;756;p44"/>
          <p:cNvSpPr txBox="1"/>
          <p:nvPr/>
        </p:nvSpPr>
        <p:spPr>
          <a:xfrm>
            <a:off x="731520" y="1828800"/>
            <a:ext cx="10515600" cy="10789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Thank you</a:t>
            </a:r>
            <a:endParaRPr/>
          </a:p>
        </p:txBody>
      </p:sp>
      <p:sp>
        <p:nvSpPr>
          <p:cNvPr id="757" name="Google Shape;757;p44"/>
          <p:cNvSpPr txBox="1"/>
          <p:nvPr/>
        </p:nvSpPr>
        <p:spPr>
          <a:xfrm>
            <a:off x="731520" y="292608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for nine weeks of curiosity, debugging, honest pushback, and shipping</a:t>
            </a:r>
            <a:endParaRPr/>
          </a:p>
        </p:txBody>
      </p:sp>
      <p:sp>
        <p:nvSpPr>
          <p:cNvPr id="758" name="Google Shape;758;p44"/>
          <p:cNvSpPr txBox="1"/>
          <p:nvPr/>
        </p:nvSpPr>
        <p:spPr>
          <a:xfrm>
            <a:off x="731520" y="3931920"/>
            <a:ext cx="10515600" cy="7552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DE1E6"/>
                </a:solidFill>
                <a:latin typeface="Open Sans"/>
                <a:ea typeface="Open Sans"/>
                <a:cs typeface="Open Sans"/>
                <a:sym typeface="Open Sans"/>
              </a:rPr>
              <a:t>You now have the modern ML toolkit.</a:t>
            </a:r>
            <a:endParaRPr/>
          </a:p>
        </p:txBody>
      </p:sp>
      <p:sp>
        <p:nvSpPr>
          <p:cNvPr id="759" name="Google Shape;759;p44"/>
          <p:cNvSpPr txBox="1"/>
          <p:nvPr/>
        </p:nvSpPr>
        <p:spPr>
          <a:xfrm>
            <a:off x="731520" y="47548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Use it well. Be honest about what works.</a:t>
            </a:r>
            <a:endParaRPr/>
          </a:p>
        </p:txBody>
      </p:sp>
      <p:sp>
        <p:nvSpPr>
          <p:cNvPr id="760" name="Google Shape;760;p44"/>
          <p:cNvSpPr txBox="1"/>
          <p:nvPr/>
        </p:nvSpPr>
        <p:spPr>
          <a:xfrm>
            <a:off x="731520" y="530352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F4F5F7"/>
                </a:solidFill>
                <a:latin typeface="Open Sans"/>
                <a:ea typeface="Open Sans"/>
                <a:cs typeface="Open Sans"/>
                <a:sym typeface="Open Sans"/>
              </a:rPr>
              <a:t>Now go build something.</a:t>
            </a:r>
            <a:endParaRPr/>
          </a:p>
        </p:txBody>
      </p:sp>
      <p:sp>
        <p:nvSpPr>
          <p:cNvPr id="761" name="Google Shape;761;p44"/>
          <p:cNvSpPr txBox="1"/>
          <p:nvPr/>
        </p:nvSpPr>
        <p:spPr>
          <a:xfrm>
            <a:off x="731520" y="6126480"/>
            <a:ext cx="10515600" cy="5394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Module 3 · Machine Learning &amp; GenAI · DSAI ·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TU SCTP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